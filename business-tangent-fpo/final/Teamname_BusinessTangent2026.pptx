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 slides" id="{f2564a64-d7c1-2357-0134-7a0ae1c50870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Appendix" id="{a51f2c2f-d54f-53b2-006b-9a78e0a53b6c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Income the FPO keeps</c:v>
                </c:pt>
              </c:strCache>
            </c:strRef>
          </c:tx>
          <c:spPr>
            <a:solidFill>
              <a:srgbClr val="1F3D2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Maize today</c:v>
                  </c:pt>
                  <c:pt idx="1">
                    <c:v>Maize Year 5</c:v>
                  </c:pt>
                  <c:pt idx="2">
                    <c:v>Veg today</c:v>
                  </c:pt>
                  <c:pt idx="3">
                    <c:v>Veg Year 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1.375</c:v>
                </c:pt>
                <c:pt idx="1">
                  <c:v>7.77937875</c:v>
                </c:pt>
                <c:pt idx="2">
                  <c:v>1.375</c:v>
                </c:pt>
                <c:pt idx="3">
                  <c:v>9.40218125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Running cost</c:v>
                </c:pt>
              </c:strCache>
            </c:strRef>
          </c:tx>
          <c:spPr>
            <a:solidFill>
              <a:srgbClr val="A7B0B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Maize today</c:v>
                  </c:pt>
                  <c:pt idx="1">
                    <c:v>Maize Year 5</c:v>
                  </c:pt>
                  <c:pt idx="2">
                    <c:v>Veg today</c:v>
                  </c:pt>
                  <c:pt idx="3">
                    <c:v>Veg Year 5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5.94</c:v>
                </c:pt>
                <c:pt idx="1">
                  <c:v>7.9774050542</c:v>
                </c:pt>
                <c:pt idx="2">
                  <c:v>6.3</c:v>
                </c:pt>
                <c:pt idx="3">
                  <c:v>10.174810108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Maize</c:v>
                </c:pt>
              </c:strCache>
            </c:strRef>
          </c:tx>
          <c:spPr>
            <a:solidFill>
              <a:srgbClr val="C8901A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Base case</c:v>
                  </c:pt>
                  <c:pt idx="1">
                    <c:v>Only 39% sell (SRIJAN level)</c:v>
                  </c:pt>
                  <c:pt idx="2">
                    <c:v>Prices 10% lower</c:v>
                  </c:pt>
                  <c:pt idx="3">
                    <c:v>Maize yield 4.0 t/ha</c:v>
                  </c:pt>
                  <c:pt idx="4">
                    <c:v>Flood year (veg loses a season)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0.97517660156</c:v>
                </c:pt>
                <c:pt idx="1">
                  <c:v>0.82086786123</c:v>
                </c:pt>
                <c:pt idx="2">
                  <c:v>0.90503626505</c:v>
                </c:pt>
                <c:pt idx="3">
                  <c:v>0.89724289432</c:v>
                </c:pt>
                <c:pt idx="4">
                  <c:v>0.97517660156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Vegetables</c:v>
                </c:pt>
              </c:strCache>
            </c:strRef>
          </c:tx>
          <c:spPr>
            <a:solidFill>
              <a:srgbClr val="4E8F3A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Base case</c:v>
                  </c:pt>
                  <c:pt idx="1">
                    <c:v>Only 39% sell (SRIJAN level)</c:v>
                  </c:pt>
                  <c:pt idx="2">
                    <c:v>Prices 10% lower</c:v>
                  </c:pt>
                  <c:pt idx="3">
                    <c:v>Maize yield 4.0 t/ha</c:v>
                  </c:pt>
                  <c:pt idx="4">
                    <c:v>Flood year (veg loses a season)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0.92406454272</c:v>
                </c:pt>
                <c:pt idx="1">
                  <c:v>0.85222462706</c:v>
                </c:pt>
                <c:pt idx="2">
                  <c:v>0.87018460597</c:v>
                </c:pt>
                <c:pt idx="3">
                  <c:v>0.92406454272</c:v>
                </c:pt>
                <c:pt idx="4">
                  <c:v>0.74446475358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Core 12 FPOs</c:v>
                </c:pt>
              </c:strCache>
            </c:strRef>
          </c:tx>
          <c:spPr>
            <a:solidFill>
              <a:srgbClr val="1F3D2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722.04</c:v>
                </c:pt>
                <c:pt idx="1">
                  <c:v>649.6800000000001</c:v>
                </c:pt>
                <c:pt idx="2">
                  <c:v>468.92</c:v>
                </c:pt>
                <c:pt idx="3">
                  <c:v>291.96000000000004</c:v>
                </c:pt>
                <c:pt idx="4">
                  <c:v>175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Cohort 2</c:v>
                </c:pt>
              </c:strCache>
            </c:strRef>
          </c:tx>
          <c:spPr>
            <a:solidFill>
              <a:srgbClr val="A9CC98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227.96</c:v>
                </c:pt>
                <c:pt idx="1">
                  <c:v>300.32</c:v>
                </c:pt>
                <c:pt idx="2">
                  <c:v>481.08</c:v>
                </c:pt>
                <c:pt idx="3">
                  <c:v>658.04</c:v>
                </c:pt>
                <c:pt idx="4">
                  <c:v>775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F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17320"/>
            <a:ext cx="76809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06324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182880"/>
            <a:ext cx="78638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900" dirty="0"/>
          </a:p>
        </p:txBody>
      </p:sp>
      <p:sp>
        <p:nvSpPr>
          <p:cNvPr id="3" name="Text 0"/>
          <p:cNvSpPr/>
          <p:nvPr/>
        </p:nvSpPr>
        <p:spPr>
          <a:xfrm>
            <a:off x="8138160" y="18288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Kosi Agri Partners  |  Business Tangent 2026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502920"/>
            <a:ext cx="1127729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1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1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45720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85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solidFill>
          <a:srgbClr val="1F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194560"/>
            <a:ext cx="108813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383280"/>
            <a:ext cx="100584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1732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Sell together, fund the season, store smart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063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Making Kosi Agri Partners' 12 Farmer Producer Organisations pay their own way by 2030-31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34340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[Team name]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[College name]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[Participant 1]  |  [email 1]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[Participant 2]  |  [email 2]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[Participant 3]  |  [email 3]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1722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Business Tangent 2026  |  Finance and Investment Cell, St. Stephen's College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052560" y="1600200"/>
            <a:ext cx="777240" cy="777240"/>
          </a:xfrm>
          <a:prstGeom prst="ellipse">
            <a:avLst/>
          </a:prstGeom>
          <a:solidFill>
            <a:srgbClr val="C8901A"/>
          </a:solidFill>
          <a:ln w="12700">
            <a:solidFill>
              <a:srgbClr val="C890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052560" y="1600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0012680" y="1783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Sell together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052560" y="2743200"/>
            <a:ext cx="777240" cy="777240"/>
          </a:xfrm>
          <a:prstGeom prst="ellipse">
            <a:avLst/>
          </a:prstGeom>
          <a:solidFill>
            <a:srgbClr val="4E8F3A"/>
          </a:solidFill>
          <a:ln w="12700">
            <a:solidFill>
              <a:srgbClr val="4E8F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052560" y="2743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0012680" y="2926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Fund the season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052560" y="3886200"/>
            <a:ext cx="777240" cy="777240"/>
          </a:xfrm>
          <a:prstGeom prst="ellipse">
            <a:avLst/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52560" y="3886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0012680" y="4069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Store smart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182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ANSWER      </a:t>
            </a:r>
            <a:r>
              <a:rPr lang="en-US" sz="900" dirty="0">
                <a:solidFill>
                  <a:schemeClr val="accent5"/>
                </a:solidFill>
              </a:rPr>
              <a:t>PRIORITIES      </a:t>
            </a:r>
            <a:r>
              <a:rPr lang="en-US" sz="900" dirty="0">
                <a:solidFill>
                  <a:schemeClr val="accent5"/>
                </a:solidFill>
              </a:rPr>
              <a:t>INTERVENTIONS      </a:t>
            </a:r>
            <a:r>
              <a:rPr lang="en-US" sz="900" dirty="0">
                <a:solidFill>
                  <a:schemeClr val="accent5"/>
                </a:solidFill>
              </a:rPr>
              <a:t>OUTCOMES      </a:t>
            </a:r>
            <a:r>
              <a:rPr lang="en-US" sz="900" dirty="0">
                <a:solidFill>
                  <a:schemeClr val="accent5"/>
                </a:solidFill>
              </a:rPr>
              <a:t>ROADMAP      </a:t>
            </a:r>
            <a:r>
              <a:rPr lang="en-US" sz="900" dirty="0">
                <a:solidFill>
                  <a:schemeClr val="accent5"/>
                </a:solidFill>
              </a:rPr>
              <a:t>BUDGET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Today a KAP FPO earns 22% of what it costs to run; our plan lifts that to 92% to 98% by 2030-31 and builds a federation that pays for itself</a:t>
            </a:r>
            <a:endParaRPr lang="en-US" sz="21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6446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Rs lakh unless stated. FPO = Farmer Producer Organisation; KAP = Kosi Agri Partners; CBBO = Cluster-Based Business Organisation. Sources: case; our model; S1, S3, S4, S9, S10 (Appendix A6).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45920"/>
            <a:ext cx="5394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 typical FPO turns over </a:t>
            </a:r>
            <a:r>
              <a:rPr lang="en-US" sz="1200" b="1" dirty="0">
                <a:solidFill>
                  <a:schemeClr val="tx1"/>
                </a:solidFill>
              </a:rPr>
              <a:t>Rs 27.5 lakh</a:t>
            </a:r>
            <a:r>
              <a:rPr lang="en-US" sz="1200" dirty="0">
                <a:solidFill>
                  <a:schemeClr val="tx1"/>
                </a:solidFill>
              </a:rPr>
              <a:t> and keeps about </a:t>
            </a:r>
            <a:r>
              <a:rPr lang="en-US" sz="1200" b="1" dirty="0">
                <a:solidFill>
                  <a:schemeClr val="tx1"/>
                </a:solidFill>
              </a:rPr>
              <a:t>Rs 1.4 lakh</a:t>
            </a:r>
            <a:r>
              <a:rPr lang="en-US" sz="1200" dirty="0">
                <a:solidFill>
                  <a:schemeClr val="tx1"/>
                </a:solidFill>
              </a:rPr>
              <a:t>, against </a:t>
            </a:r>
            <a:r>
              <a:rPr lang="en-US" sz="1200" b="1" dirty="0">
                <a:solidFill>
                  <a:schemeClr val="tx1"/>
                </a:solidFill>
              </a:rPr>
              <a:t>Rs 5.9 to 6.3 lakh</a:t>
            </a:r>
            <a:r>
              <a:rPr lang="en-US" sz="1200" dirty="0">
                <a:solidFill>
                  <a:schemeClr val="tx1"/>
                </a:solidFill>
              </a:rPr>
              <a:t> to run with a paid CEO and proper accounts.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Its Rs 10 lakh working capital is just members' share capital (500 x Rs 2,000), against a Rs 25 lakh peak need.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Government support to KAP, a CBBO, ends in 2027-28. Nationally only about </a:t>
            </a:r>
            <a:r>
              <a:rPr lang="en-US" sz="1200" b="1" dirty="0">
                <a:solidFill>
                  <a:schemeClr val="tx1"/>
                </a:solidFill>
              </a:rPr>
              <a:t>1 in 3</a:t>
            </a:r>
            <a:r>
              <a:rPr lang="en-US" sz="1200" dirty="0">
                <a:solidFill>
                  <a:schemeClr val="tx1"/>
                </a:solidFill>
              </a:rPr>
              <a:t> FPOs is viable.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310128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WHAT WE RECOMMEND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3611880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3611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593592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Sell together:</a:t>
            </a:r>
            <a:r>
              <a:rPr lang="en-US" sz="1150" dirty="0">
                <a:solidFill>
                  <a:schemeClr val="tx1"/>
                </a:solidFill>
              </a:rPr>
              <a:t> a shared sales desk sells combined lots to at least three buyers, none above half of sales.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416052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4160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142232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Fund the season:</a:t>
            </a:r>
            <a:r>
              <a:rPr lang="en-US" sz="1150" dirty="0">
                <a:solidFill>
                  <a:schemeClr val="tx1"/>
                </a:solidFill>
              </a:rPr>
              <a:t> claim the government matching equity grant, then a revolving fund that pays farmers within 7 days.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4709160"/>
            <a:ext cx="329184" cy="32918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4709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690872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Store smart:</a:t>
            </a:r>
            <a:r>
              <a:rPr lang="en-US" sz="1150" dirty="0">
                <a:solidFill>
                  <a:schemeClr val="tx1"/>
                </a:solidFill>
              </a:rPr>
              <a:t> lease idle cooperative (PACS) godowns; dryers for maize, solar cold rooms for vegetables.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5349240"/>
            <a:ext cx="5394960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5422392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All three run through a </a:t>
            </a:r>
            <a:r>
              <a:rPr lang="en-US" sz="1100" b="1" dirty="0">
                <a:solidFill>
                  <a:schemeClr val="tx2"/>
                </a:solidFill>
              </a:rPr>
              <a:t>federation of the FPOs</a:t>
            </a:r>
            <a:r>
              <a:rPr lang="en-US" sz="1100" dirty="0">
                <a:solidFill>
                  <a:schemeClr val="tx2"/>
                </a:solidFill>
              </a:rPr>
              <a:t> that keeps services going after grants end. US$1 million a year: about half makes the 12 FPOs self-running; the rest takes the model to </a:t>
            </a:r>
            <a:r>
              <a:rPr lang="en-US" sz="1100" b="1" dirty="0">
                <a:solidFill>
                  <a:schemeClr val="tx2"/>
                </a:solidFill>
              </a:rPr>
              <a:t>24 more Kosi FPOs</a:t>
            </a:r>
            <a:r>
              <a:rPr lang="en-US" sz="1100" dirty="0">
                <a:solidFill>
                  <a:schemeClr val="tx2"/>
                </a:solidFill>
              </a:rPr>
              <a:t>, released only if a Year 2 checkpoint is met.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1371600"/>
            <a:ext cx="1712976" cy="102412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73368" y="1435608"/>
            <a:ext cx="1530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92% to 98%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373368" y="1874520"/>
            <a:ext cx="1530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running cost covered by own income in Year 5 (22% today)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086344" y="1371600"/>
            <a:ext cx="1712976" cy="102412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96072" y="1435608"/>
            <a:ext cx="1530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Rs 1.03 crore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196072" y="1874520"/>
            <a:ext cx="1530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average turnover per FPO (Rs 27.5 lakh today)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909048" y="1371600"/>
            <a:ext cx="1712976" cy="102412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018776" y="1435608"/>
            <a:ext cx="1530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158%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0018776" y="1874520"/>
            <a:ext cx="1530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of the federation's own running cost covered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263640" y="2578608"/>
            <a:ext cx="5468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SCORECARD, END OF YEAR 5 (2030-31)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852928"/>
          <a:ext cx="5468112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914400"/>
                <a:gridCol w="1143000"/>
                <a:gridCol w="153619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5"/>
                          </a:solidFill>
                        </a:rPr>
                        <a:t>Test</a:t>
                      </a:r>
                      <a:endParaRPr lang="en-US" sz="850" dirty="0"/>
                    </a:p>
                  </a:txBody>
                  <a:tcPr marL="63500" marR="635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5"/>
                          </a:solidFill>
                        </a:rPr>
                        <a:t>Today</a:t>
                      </a:r>
                      <a:endParaRPr lang="en-US" sz="850" dirty="0"/>
                    </a:p>
                  </a:txBody>
                  <a:tcPr marL="63500" marR="635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5"/>
                          </a:solidFill>
                        </a:rPr>
                        <a:t>Target</a:t>
                      </a:r>
                      <a:endParaRPr lang="en-US" sz="850" dirty="0"/>
                    </a:p>
                  </a:txBody>
                  <a:tcPr marL="63500" marR="635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5"/>
                          </a:solidFill>
                        </a:rPr>
                        <a:t>Benchmark</a:t>
                      </a:r>
                      <a:endParaRPr lang="en-US" sz="850" dirty="0"/>
                    </a:p>
                  </a:txBody>
                  <a:tcPr marL="63500" marR="635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Average turnover per FPO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Rs 27.5 lakh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Rs 1.03 crore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12.7% of scheme FPOs exceed Rs 1 crore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FPOs covering 100% of running cost, 2 years running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 of 12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6 of 12; all above 85%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About 1 in 3 nationally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Members selling through the FPO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About 15%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48%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SRIJAN: 39% after 2 years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Women members / women directors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20% / 1 of 9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38% / 3 of 9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Women-led FPOs survive 4 to 13 points more often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FPOs with a credit line in their own name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Only 30% of FPOs have one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Federation pays its own running cost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No federation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Model: 158%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182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ANSWER      </a:t>
            </a:r>
            <a:r>
              <a:rPr lang="en-US" sz="900" b="1" dirty="0">
                <a:solidFill>
                  <a:schemeClr val="tx2"/>
                </a:solidFill>
              </a:rPr>
              <a:t>PRIORITIES      </a:t>
            </a:r>
            <a:r>
              <a:rPr lang="en-US" sz="900" dirty="0">
                <a:solidFill>
                  <a:schemeClr val="accent5"/>
                </a:solidFill>
              </a:rPr>
              <a:t>INTERVENTIONS      </a:t>
            </a:r>
            <a:r>
              <a:rPr lang="en-US" sz="900" dirty="0">
                <a:solidFill>
                  <a:schemeClr val="accent5"/>
                </a:solidFill>
              </a:rPr>
              <a:t>OUTCOMES      </a:t>
            </a:r>
            <a:r>
              <a:rPr lang="en-US" sz="900" dirty="0">
                <a:solidFill>
                  <a:schemeClr val="accent5"/>
                </a:solidFill>
              </a:rPr>
              <a:t>ROADMAP      </a:t>
            </a:r>
            <a:r>
              <a:rPr lang="en-US" sz="900" dirty="0">
                <a:solidFill>
                  <a:schemeClr val="accent5"/>
                </a:solidFill>
              </a:rPr>
              <a:t>BUDGET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Volume is the root problem: too little produce flows through each FPO to pay its CEO, so we fix selling and seasonal finance first</a:t>
            </a:r>
            <a:endParaRPr lang="en-US" sz="21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6446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Rs lakh a year per FPO. Running cost = CEO, assistant, office, federation fee, asset upkeep and loan repayment, with no grant. Sources: case; model sheet Unit_Econ.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INCOME KEPT VS RUNNING COST PER FPO (RS LAKH A YEAR)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627632"/>
          <a:ext cx="512064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989320" y="1371600"/>
            <a:ext cx="5742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WHAT THE NUMBERS SAY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989320" y="1645920"/>
            <a:ext cx="57424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chemeClr val="tx1"/>
                </a:solidFill>
              </a:rPr>
              <a:t>Margins are thin</a:t>
            </a:r>
            <a:r>
              <a:rPr lang="en-US" sz="1150" dirty="0">
                <a:solidFill>
                  <a:schemeClr val="tx1"/>
                </a:solidFill>
              </a:rPr>
              <a:t> (3% on maize, 7% on vegetables), so only volume pays fixed costs. Break-even turnover is about </a:t>
            </a:r>
            <a:r>
              <a:rPr lang="en-US" sz="1150" b="1" dirty="0">
                <a:solidFill>
                  <a:schemeClr val="tx1"/>
                </a:solidFill>
              </a:rPr>
              <a:t>Rs 1.07 crore</a:t>
            </a:r>
            <a:r>
              <a:rPr lang="en-US" sz="1150" dirty="0">
                <a:solidFill>
                  <a:schemeClr val="tx1"/>
                </a:solidFill>
              </a:rPr>
              <a:t> (maize) and </a:t>
            </a:r>
            <a:r>
              <a:rPr lang="en-US" sz="1150" b="1" dirty="0">
                <a:solidFill>
                  <a:schemeClr val="tx1"/>
                </a:solidFill>
              </a:rPr>
              <a:t>Rs 1.10 crore</a:t>
            </a:r>
            <a:r>
              <a:rPr lang="en-US" sz="1150" dirty="0">
                <a:solidFill>
                  <a:schemeClr val="tx1"/>
                </a:solidFill>
              </a:rPr>
              <a:t> (vegetables), about 4 times today.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chemeClr val="tx1"/>
                </a:solidFill>
              </a:rPr>
              <a:t>Cash, not demand, caps buying:</a:t>
            </a:r>
            <a:r>
              <a:rPr lang="en-US" sz="1150" dirty="0">
                <a:solidFill>
                  <a:schemeClr val="tx1"/>
                </a:solidFill>
              </a:rPr>
              <a:t> Rs 10 lakh against a Rs 25 lakh peak, with buyers paying in 30 to 60 days. Farmers sell to the trader who pays on the spot.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chemeClr val="tx1"/>
                </a:solidFill>
              </a:rPr>
              <a:t>No accounts, no bank loan, no exit:</a:t>
            </a:r>
            <a:r>
              <a:rPr lang="en-US" sz="1150" dirty="0">
                <a:solidFill>
                  <a:schemeClr val="tx1"/>
                </a:solidFill>
              </a:rPr>
              <a:t> without clean books and filings no lender will fund the FPO after KAP leaves in 2027-28.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chemeClr val="tx1"/>
                </a:solidFill>
              </a:rPr>
              <a:t>Infrastructure is an enabler, not a priority on its own:</a:t>
            </a:r>
            <a:r>
              <a:rPr lang="en-US" sz="1150" dirty="0">
                <a:solidFill>
                  <a:schemeClr val="tx1"/>
                </a:solidFill>
              </a:rPr>
              <a:t> it pays only where it adds sales (drying for maize, cold rooms for vegetables).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041648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OUR THREE PRIORITIES, AND WHERE MAIZE AND VEGETABLE FPOS DIFFER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315968"/>
          <a:ext cx="1127729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240280"/>
                <a:gridCol w="2514600"/>
                <a:gridCol w="2377440"/>
                <a:gridCol w="240487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5"/>
                          </a:solidFill>
                        </a:rPr>
                        <a:t>Priority</a:t>
                      </a:r>
                      <a:endParaRPr lang="en-US" sz="850" dirty="0"/>
                    </a:p>
                  </a:txBody>
                  <a:tcPr marL="63500" marR="635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5"/>
                          </a:solidFill>
                        </a:rPr>
                        <a:t>Why it matters most</a:t>
                      </a:r>
                      <a:endParaRPr lang="en-US" sz="850" dirty="0"/>
                    </a:p>
                  </a:txBody>
                  <a:tcPr marL="63500" marR="635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5"/>
                          </a:solidFill>
                        </a:rPr>
                        <a:t>Common to all 12</a:t>
                      </a:r>
                      <a:endParaRPr lang="en-US" sz="850" dirty="0"/>
                    </a:p>
                  </a:txBody>
                  <a:tcPr marL="63500" marR="635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5"/>
                          </a:solidFill>
                        </a:rPr>
                        <a:t>Maize FPOs (7)</a:t>
                      </a:r>
                      <a:endParaRPr lang="en-US" sz="850" dirty="0"/>
                    </a:p>
                  </a:txBody>
                  <a:tcPr marL="63500" marR="635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5"/>
                          </a:solidFill>
                        </a:rPr>
                        <a:t>Vegetable FPOs (5)</a:t>
                      </a:r>
                      <a:endParaRPr lang="en-US" sz="850" dirty="0"/>
                    </a:p>
                  </a:txBody>
                  <a:tcPr marL="63500" marR="635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1. Market access and volume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Only volume covers the fixed cost of running an FPO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Written buyer agreements; honest weighing; pay farmers within 7 days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Lots of 1,000 t+ for feed mills and distilleries; moisture 14% or lower; hold some to sell later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Daily small, perishable lots; grading, crates, cold rooms; sell via VEGFED and processors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2. Seasonal finance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Cash limits how much the FPO can buy, and late pay drives farmers away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Claim matching equity grant; revolving fund; bank line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One big April to June buying season; stored maize financed by warehouse receipts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Smaller, year-round need; input credit for seed and saplings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3. Management and member participation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Independence needs accounts, compliance and members who sell through the FPO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Shared accountant via federation; CEO paid from margin by Year 5; women in jobs and on boards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Women procurement agents at collection points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Women run nursery and grading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182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ANSWER      </a:t>
            </a:r>
            <a:r>
              <a:rPr lang="en-US" sz="900" dirty="0">
                <a:solidFill>
                  <a:schemeClr val="accent5"/>
                </a:solidFill>
              </a:rPr>
              <a:t>PRIORITIES      </a:t>
            </a:r>
            <a:r>
              <a:rPr lang="en-US" sz="900" b="1" dirty="0">
                <a:solidFill>
                  <a:schemeClr val="tx2"/>
                </a:solidFill>
              </a:rPr>
              <a:t>INTERVENTIONS      </a:t>
            </a:r>
            <a:r>
              <a:rPr lang="en-US" sz="900" dirty="0">
                <a:solidFill>
                  <a:schemeClr val="accent5"/>
                </a:solidFill>
              </a:rPr>
              <a:t>OUTCOMES      </a:t>
            </a:r>
            <a:r>
              <a:rPr lang="en-US" sz="900" dirty="0">
                <a:solidFill>
                  <a:schemeClr val="accent5"/>
                </a:solidFill>
              </a:rPr>
              <a:t>ROADMAP      </a:t>
            </a:r>
            <a:r>
              <a:rPr lang="en-US" sz="900" dirty="0">
                <a:solidFill>
                  <a:schemeClr val="accent5"/>
                </a:solidFill>
              </a:rPr>
              <a:t>BUDGET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Three interventions, each built to leave something behind that keeps earning after the grant stops</a:t>
            </a:r>
            <a:endParaRPr lang="en-US" sz="21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6446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AIF, MIDH, e-NWR (warehouse receipt), SHG (self-help group), BRFSY (state crop aid), PMFBY: see glossary, Appendix A6. Sources: S2, S5 to S8, S16, S17, S20.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639312" cy="4343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9961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499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1527048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Sell together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993392"/>
            <a:ext cx="33649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 sales desk (KAP staff in Years 1 to 3, federation staff from Year 4) signs written buyer agreements. FPOs weigh honestly, test moisture and pay farmers within 7 days. Two paid women procurement agents per FPO, recruited from SHGs.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" y="3246120"/>
            <a:ext cx="685800" cy="201168"/>
          </a:xfrm>
          <a:prstGeom prst="roundRect">
            <a:avLst>
              <a:gd name="adj" fmla="val 2272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24612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MAIZE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502152"/>
            <a:ext cx="3364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Combine 7 FPOs into lots of 1,000 t+. Feed mills, distilleries, and later sale via e-NWR; no buyer above 50%. Rs 10 lakh kit: drying yard, moisture meter, shared dryer.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4206240"/>
            <a:ext cx="685800" cy="201168"/>
          </a:xfrm>
          <a:prstGeom prst="roundRect">
            <a:avLst>
              <a:gd name="adj" fmla="val 2272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420624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VEG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4462272"/>
            <a:ext cx="3364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Three collection points, crates, pack shed on a raised plinth, two 5 t solar cold rooms, nursery (Rs 40 lakh kit). Sell to VEGFED, processors, city traders.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5212080"/>
            <a:ext cx="3364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Leaves behind:</a:t>
            </a:r>
            <a:r>
              <a:rPr lang="en-US" sz="1000" dirty="0">
                <a:solidFill>
                  <a:schemeClr val="tx2"/>
                </a:solidFill>
              </a:rPr>
              <a:t> Buyer relationships and a desk the federation pays for.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74820" y="1371600"/>
            <a:ext cx="3639312" cy="4343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11980" y="1499616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11980" y="1499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896612" y="1527048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Fund the season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411980" y="1993392"/>
            <a:ext cx="33649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1) Clean share registers and claim the government matching equity grant (Rs 13 lakh per FPO). 2) A revolving fund owned by the federation: Rs 2 crore plus a Rs 0.5 crore flood window, lending at 10%. 3) A Rs 0.5 crore first-loss deposit opens bank lines in each FPO's own name.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411980" y="3246120"/>
            <a:ext cx="685800" cy="201168"/>
          </a:xfrm>
          <a:prstGeom prst="roundRect">
            <a:avLst>
              <a:gd name="adj" fmla="val 2272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11980" y="324612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MAIZE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4411980" y="3502152"/>
            <a:ext cx="3364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One big April to June buying season. Stored maize is financed by e-NWR pledge loans backed by a government guarantee.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11980" y="4206240"/>
            <a:ext cx="685800" cy="201168"/>
          </a:xfrm>
          <a:prstGeom prst="roundRect">
            <a:avLst>
              <a:gd name="adj" fmla="val 2272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11980" y="420624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VEG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4411980" y="4462272"/>
            <a:ext cx="3364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Smaller, year-round need. Input credit for seed and saplings, repaid in produce.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411980" y="5212080"/>
            <a:ext cx="3364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Leaves behind:</a:t>
            </a:r>
            <a:r>
              <a:rPr lang="en-US" sz="1000" dirty="0">
                <a:solidFill>
                  <a:schemeClr val="tx2"/>
                </a:solidFill>
              </a:rPr>
              <a:t> A fund that keeps lending, and a credit history.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92440" y="1371600"/>
            <a:ext cx="3639312" cy="4343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1499616"/>
            <a:ext cx="384048" cy="38404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0" y="1499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714232" y="1527048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Run it together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1993392"/>
            <a:ext cx="33649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 federation of the FPOs gives accounts, audit, filings, the sales desk and bulk input buying for Rs 1.2 lakh a year per FPO. CEO salary support tapers 80%, 60%, 40%, 20%, then 0%.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229600" y="3246120"/>
            <a:ext cx="685800" cy="201168"/>
          </a:xfrm>
          <a:prstGeom prst="roundRect">
            <a:avLst>
              <a:gd name="adj" fmla="val 2272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29600" y="324612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WOMEN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3502152"/>
            <a:ext cx="3364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150 new women members per FPO via SHGs; leadership fellowship for board seats; creches at collection points.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229600" y="4206240"/>
            <a:ext cx="685800" cy="201168"/>
          </a:xfrm>
          <a:prstGeom prst="roundRect">
            <a:avLst>
              <a:gd name="adj" fmla="val 2272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229600" y="420624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CLIMATE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4462272"/>
            <a:ext cx="3364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Flood alerts; storage above flood level; nursery for fast replanting; flood loan window; help with BRFSY crop-aid claims (Bihar left PMFBY).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5212080"/>
            <a:ext cx="3364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Leaves behind:</a:t>
            </a:r>
            <a:r>
              <a:rPr lang="en-US" sz="1000" dirty="0">
                <a:solidFill>
                  <a:schemeClr val="tx2"/>
                </a:solidFill>
              </a:rPr>
              <a:t> Shared services that pay for themselves (158% cost cover).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585216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Complements, not duplicates, government support:</a:t>
            </a:r>
            <a:r>
              <a:rPr lang="en-US" sz="1050" dirty="0">
                <a:solidFill>
                  <a:schemeClr val="tx2"/>
                </a:solidFill>
              </a:rPr>
              <a:t> we claim the matching grant, lease the PACS godowns Bihar has just built, borrow under AIF and MIDH, and fund what stops when CBBO support ends in 2027-28.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182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ANSWER      </a:t>
            </a:r>
            <a:r>
              <a:rPr lang="en-US" sz="900" dirty="0">
                <a:solidFill>
                  <a:schemeClr val="accent5"/>
                </a:solidFill>
              </a:rPr>
              <a:t>PRIORITIES      </a:t>
            </a:r>
            <a:r>
              <a:rPr lang="en-US" sz="900" dirty="0">
                <a:solidFill>
                  <a:schemeClr val="accent5"/>
                </a:solidFill>
              </a:rPr>
              <a:t>INTERVENTIONS      </a:t>
            </a:r>
            <a:r>
              <a:rPr lang="en-US" sz="900" b="1" dirty="0">
                <a:solidFill>
                  <a:schemeClr val="tx2"/>
                </a:solidFill>
              </a:rPr>
              <a:t>OUTCOMES      </a:t>
            </a:r>
            <a:r>
              <a:rPr lang="en-US" sz="900" dirty="0">
                <a:solidFill>
                  <a:schemeClr val="accent5"/>
                </a:solidFill>
              </a:rPr>
              <a:t>ROADMAP      </a:t>
            </a:r>
            <a:r>
              <a:rPr lang="en-US" sz="900" dirty="0">
                <a:solidFill>
                  <a:schemeClr val="accent5"/>
                </a:solidFill>
              </a:rPr>
              <a:t>BUDGET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By Year 5 a typical FPO does about 3.8 times today's business and covers 92% to 98% of a fully professional running cost</a:t>
            </a:r>
            <a:endParaRPr lang="en-US" sz="21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6446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Rs lakh a year per FPO unless stated. Sources: model sheets Unit_Econ and Sensitivity; assumptions and sources in Appendix A4; S9, S11, S19.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ONE FPO IN YEAR 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57607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280160"/>
                <a:gridCol w="12801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chemeClr val="accent5"/>
                          </a:solidFill>
                        </a:rPr>
                        <a:t>Per FPO, Year 5</a:t>
                      </a:r>
                      <a:endParaRPr lang="en-US" sz="900" dirty="0"/>
                    </a:p>
                  </a:txBody>
                  <a:tcPr marL="63500" marR="635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accent5"/>
                          </a:solidFill>
                        </a:rPr>
                        <a:t>Maize</a:t>
                      </a:r>
                      <a:endParaRPr lang="en-US" sz="900" dirty="0"/>
                    </a:p>
                  </a:txBody>
                  <a:tcPr marL="63500" marR="635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accent5"/>
                          </a:solidFill>
                        </a:rPr>
                        <a:t>Vegetables</a:t>
                      </a:r>
                      <a:endParaRPr lang="en-US" sz="900" dirty="0"/>
                    </a:p>
                  </a:txBody>
                  <a:tcPr marL="63500" marR="635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Members (including 150 new women)</a:t>
                      </a:r>
                      <a:endParaRPr lang="en-US" sz="105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650</a:t>
                      </a:r>
                      <a:endParaRPr lang="en-US" sz="105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650</a:t>
                      </a:r>
                      <a:endParaRPr lang="en-US" sz="105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Members selling through the FPO</a:t>
                      </a:r>
                      <a:endParaRPr lang="en-US" sz="105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50% (325)</a:t>
                      </a:r>
                      <a:endParaRPr lang="en-US" sz="105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45% (293)</a:t>
                      </a:r>
                      <a:endParaRPr lang="en-US" sz="105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Produce handled (tonnes)</a:t>
                      </a:r>
                      <a:endParaRPr lang="en-US" sz="105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342</a:t>
                      </a:r>
                      <a:endParaRPr lang="en-US" sz="105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559</a:t>
                      </a:r>
                      <a:endParaRPr lang="en-US" sz="105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Produce sales</a:t>
                      </a:r>
                      <a:endParaRPr lang="en-US" sz="105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77.0</a:t>
                      </a:r>
                      <a:endParaRPr lang="en-US" sz="105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78.3</a:t>
                      </a:r>
                      <a:endParaRPr lang="en-US" sz="105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Input and nursery sales</a:t>
                      </a:r>
                      <a:endParaRPr lang="en-US" sz="105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27.3</a:t>
                      </a:r>
                      <a:endParaRPr lang="en-US" sz="105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23.2</a:t>
                      </a:r>
                      <a:endParaRPr lang="en-US" sz="105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Turnover</a:t>
                      </a:r>
                      <a:endParaRPr lang="en-US" sz="105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104.3</a:t>
                      </a:r>
                      <a:endParaRPr lang="en-US" sz="105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101.5</a:t>
                      </a:r>
                      <a:endParaRPr lang="en-US" sz="105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Income kept (margins, storage gain, fees)</a:t>
                      </a:r>
                      <a:endParaRPr lang="en-US" sz="105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7.8</a:t>
                      </a:r>
                      <a:endParaRPr lang="en-US" sz="105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9.4</a:t>
                      </a:r>
                      <a:endParaRPr lang="en-US" sz="105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Running cost, no grant</a:t>
                      </a:r>
                      <a:endParaRPr lang="en-US" sz="105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8.0</a:t>
                      </a:r>
                      <a:endParaRPr lang="en-US" sz="105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10.2</a:t>
                      </a:r>
                      <a:endParaRPr lang="en-US" sz="105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Share of running cost covered</a:t>
                      </a:r>
                      <a:endParaRPr lang="en-US" sz="105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chemeClr val="tx2"/>
                          </a:solidFill>
                        </a:rPr>
                        <a:t>98%</a:t>
                      </a:r>
                      <a:endParaRPr lang="en-US" sz="105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chemeClr val="tx2"/>
                          </a:solidFill>
                        </a:rPr>
                        <a:t>92%</a:t>
                      </a:r>
                      <a:endParaRPr lang="en-US" sz="105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160520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KEY ASSUMPTIONS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416552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Maize: 0.4 ha a seller at 4.5 t/ha (Bihar about 4 t/ha, rabi higher); FPO handles 65% of a seller's crop; Rs 2,250 a quintal; 3% margin; 40% stored for a net 4% gain. Vegetables: 0.2 ha at 22.5 t/ha a year; FPO handles 50%; Rs 14/kg; 7% margin. Inputs 8% to 10% margin.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537960" y="1371600"/>
            <a:ext cx="5193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COST COVER UNDER STRESS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537960" y="1600200"/>
          <a:ext cx="5193792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7"/>
          <p:cNvSpPr/>
          <p:nvPr/>
        </p:nvSpPr>
        <p:spPr>
          <a:xfrm>
            <a:off x="6537960" y="4389120"/>
            <a:ext cx="5193792" cy="1691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675120" y="448056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chemeClr val="tx1"/>
                </a:solidFill>
              </a:rPr>
              <a:t>Targets:</a:t>
            </a:r>
            <a:r>
              <a:rPr lang="en-US" sz="1050" dirty="0">
                <a:solidFill>
                  <a:schemeClr val="tx1"/>
                </a:solidFill>
              </a:rPr>
              <a:t> average turnover Rs 1.03 crore; 6 of 12 FPOs at 100% or more for two years and all above 85%; 48% of members selling; women 38% of members.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chemeClr val="tx1"/>
                </a:solidFill>
              </a:rPr>
              <a:t>Why not all 12 at 100%:</a:t>
            </a:r>
            <a:r>
              <a:rPr lang="en-US" sz="1050" dirty="0">
                <a:solidFill>
                  <a:schemeClr val="tx1"/>
                </a:solidFill>
              </a:rPr>
              <a:t> the base case sits just under break-even, so the better half must beat the average. We say so rather than overclaim.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chemeClr val="tx1"/>
                </a:solidFill>
              </a:rPr>
              <a:t>What farmers get:</a:t>
            </a:r>
            <a:r>
              <a:rPr lang="en-US" sz="1050" dirty="0">
                <a:solidFill>
                  <a:schemeClr val="tx1"/>
                </a:solidFill>
              </a:rPr>
              <a:t> a fair price, honest weighing, cheaper inputs, and the option to store and sell later. Bihar's JEEViKA maize company delivered 15% to 20% higher returns; we plan below that.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182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ANSWER      </a:t>
            </a:r>
            <a:r>
              <a:rPr lang="en-US" sz="900" dirty="0">
                <a:solidFill>
                  <a:schemeClr val="accent5"/>
                </a:solidFill>
              </a:rPr>
              <a:t>PRIORITIES      </a:t>
            </a:r>
            <a:r>
              <a:rPr lang="en-US" sz="900" dirty="0">
                <a:solidFill>
                  <a:schemeClr val="accent5"/>
                </a:solidFill>
              </a:rPr>
              <a:t>INTERVENTIONS      </a:t>
            </a:r>
            <a:r>
              <a:rPr lang="en-US" sz="900" dirty="0">
                <a:solidFill>
                  <a:schemeClr val="accent5"/>
                </a:solidFill>
              </a:rPr>
              <a:t>OUTCOMES      </a:t>
            </a:r>
            <a:r>
              <a:rPr lang="en-US" sz="900" b="1" dirty="0">
                <a:solidFill>
                  <a:schemeClr val="tx2"/>
                </a:solidFill>
              </a:rPr>
              <a:t>ROADMAP      </a:t>
            </a:r>
            <a:r>
              <a:rPr lang="en-US" sz="900" dirty="0">
                <a:solidFill>
                  <a:schemeClr val="accent5"/>
                </a:solidFill>
              </a:rPr>
              <a:t>BUDGET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KAP builds in Years 1 and 2, hands over to the federation in Years 3 and 4, and steps back in Year 5; money continues only past a Year 2 checkpoint</a:t>
            </a:r>
            <a:endParaRPr lang="en-US" sz="21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6446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Year 1 = 2026-27. Government CBBO support to KAP ends in 2027-28 (Year 2). Cohort 2 = other Kosi FPOs whose government support has ended or is ending. Sources: case; S2; our model.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PHASED ROADMAP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971800" y="1627632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5"/>
                </a:solidFill>
              </a:rPr>
              <a:t>Y1 26-27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913632" y="1627632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5"/>
                </a:solidFill>
              </a:rPr>
              <a:t>Y2 27-28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855464" y="1627632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5"/>
                </a:solidFill>
              </a:rPr>
              <a:t>Y3 28-29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797296" y="1627632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5"/>
                </a:solidFill>
              </a:rPr>
              <a:t>Y4 29-30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739128" y="1627632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5"/>
                </a:solidFill>
              </a:rPr>
              <a:t>Y5 30-31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94767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Accounts, share registers, claim grant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99232" y="1984248"/>
            <a:ext cx="886968" cy="155448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21284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Asset kits installed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999232" y="2249424"/>
            <a:ext cx="1828800" cy="155448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478024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Sales desk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999232" y="2514600"/>
            <a:ext cx="2770632" cy="155448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24728" y="2514600"/>
            <a:ext cx="1828800" cy="155448"/>
          </a:xfrm>
          <a:prstGeom prst="rect">
            <a:avLst/>
          </a:prstGeom>
          <a:solidFill>
            <a:srgbClr val="4E8F3A"/>
          </a:solidFill>
          <a:ln w="12700">
            <a:solidFill>
              <a:srgbClr val="4E8F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27432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Revolving fund lending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999232" y="2779776"/>
            <a:ext cx="886968" cy="155448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41064" y="2779776"/>
            <a:ext cx="3712464" cy="155448"/>
          </a:xfrm>
          <a:prstGeom prst="rect">
            <a:avLst/>
          </a:prstGeom>
          <a:solidFill>
            <a:srgbClr val="4E8F3A"/>
          </a:solidFill>
          <a:ln w="12700">
            <a:solidFill>
              <a:srgbClr val="4E8F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00837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Federation set up, then runs services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941064" y="3044952"/>
            <a:ext cx="886968" cy="155448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82896" y="3044952"/>
            <a:ext cx="2770632" cy="155448"/>
          </a:xfrm>
          <a:prstGeom prst="rect">
            <a:avLst/>
          </a:prstGeom>
          <a:solidFill>
            <a:srgbClr val="4E8F3A"/>
          </a:solidFill>
          <a:ln w="12700">
            <a:solidFill>
              <a:srgbClr val="4E8F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327355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CEO salary support (share paid)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999232" y="3310128"/>
            <a:ext cx="886968" cy="155448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971800" y="3310128"/>
            <a:ext cx="9418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80%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941064" y="3310128"/>
            <a:ext cx="886968" cy="155448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913632" y="3310128"/>
            <a:ext cx="9418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60%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82896" y="3310128"/>
            <a:ext cx="886968" cy="155448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55464" y="3310128"/>
            <a:ext cx="9418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40%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824728" y="3310128"/>
            <a:ext cx="886968" cy="155448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797296" y="3310128"/>
            <a:ext cx="9418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20%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353872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Women: enrolment, agents, fellowship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999232" y="3575304"/>
            <a:ext cx="4654296" cy="155448"/>
          </a:xfrm>
          <a:prstGeom prst="rect">
            <a:avLst/>
          </a:prstGeom>
          <a:solidFill>
            <a:srgbClr val="4E8F3A"/>
          </a:solidFill>
          <a:ln w="12700">
            <a:solidFill>
              <a:srgbClr val="4E8F3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7200" y="3803904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Cohort 2: 6 FPOs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999232" y="3840480"/>
            <a:ext cx="4654296" cy="155448"/>
          </a:xfrm>
          <a:prstGeom prst="rect">
            <a:avLst/>
          </a:prstGeom>
          <a:solidFill>
            <a:srgbClr val="A9CC98"/>
          </a:solidFill>
          <a:ln w="12700">
            <a:solidFill>
              <a:srgbClr val="A9CC9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57200" y="40690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Cohort 2: 18 more (if checkpoint met)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82896" y="4105656"/>
            <a:ext cx="2770632" cy="155448"/>
          </a:xfrm>
          <a:prstGeom prst="rect">
            <a:avLst/>
          </a:prstGeom>
          <a:solidFill>
            <a:srgbClr val="A9CC98"/>
          </a:solidFill>
          <a:ln w="12700">
            <a:solidFill>
              <a:srgbClr val="A9CC9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55464" y="1874520"/>
            <a:ext cx="0" cy="2478024"/>
          </a:xfrm>
          <a:prstGeom prst="line">
            <a:avLst/>
          </a:prstGeom>
          <a:noFill/>
          <a:ln w="19050">
            <a:solidFill>
              <a:srgbClr val="B5443B"/>
            </a:solidFill>
            <a:prstDash val="dash"/>
          </a:ln>
        </p:spPr>
      </p:sp>
      <p:sp>
        <p:nvSpPr>
          <p:cNvPr id="40" name="Text 38"/>
          <p:cNvSpPr txBox="1"/>
          <p:nvPr/>
        </p:nvSpPr>
        <p:spPr>
          <a:xfrm>
            <a:off x="4306824" y="43525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4"/>
                </a:solidFill>
              </a:rPr>
              <a:t>Year 2 checkpoint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4398264"/>
            <a:ext cx="164592" cy="128016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76656" y="436168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KAP leads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508760" y="4398264"/>
            <a:ext cx="164592" cy="128016"/>
          </a:xfrm>
          <a:prstGeom prst="rect">
            <a:avLst/>
          </a:prstGeom>
          <a:solidFill>
            <a:srgbClr val="4E8F3A"/>
          </a:solidFill>
          <a:ln w="12700">
            <a:solidFill>
              <a:srgbClr val="4E8F3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728216" y="436168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FPOs lead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468880" y="4398264"/>
            <a:ext cx="164592" cy="128016"/>
          </a:xfrm>
          <a:prstGeom prst="rect">
            <a:avLst/>
          </a:prstGeom>
          <a:solidFill>
            <a:srgbClr val="A9CC98"/>
          </a:solidFill>
          <a:ln w="12700">
            <a:solidFill>
              <a:srgbClr val="A9CC9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688336" y="436168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Cohort 2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457200" y="4617720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WHO DOES WHAT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864608"/>
          <a:ext cx="722376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828800"/>
                <a:gridCol w="28803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chemeClr val="accent5"/>
                          </a:solidFill>
                        </a:rPr>
                        <a:t>Function</a:t>
                      </a:r>
                      <a:endParaRPr lang="en-US" sz="800" dirty="0"/>
                    </a:p>
                  </a:txBody>
                  <a:tcPr marL="63500" marR="635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chemeClr val="accent5"/>
                          </a:solidFill>
                        </a:rPr>
                        <a:t>Year 1</a:t>
                      </a:r>
                      <a:endParaRPr lang="en-US" sz="800" dirty="0"/>
                    </a:p>
                  </a:txBody>
                  <a:tcPr marL="63500" marR="635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chemeClr val="accent5"/>
                          </a:solidFill>
                        </a:rPr>
                        <a:t>Year 5</a:t>
                      </a:r>
                      <a:endParaRPr lang="en-US" sz="800" dirty="0"/>
                    </a:p>
                  </a:txBody>
                  <a:tcPr marL="63500" marR="635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Finding buyers and negotiating</a:t>
                      </a:r>
                      <a:endParaRPr lang="en-US" sz="9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KAP</a:t>
                      </a:r>
                      <a:endParaRPr lang="en-US" sz="9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Federation sales desk</a:t>
                      </a:r>
                      <a:endParaRPr lang="en-US" sz="9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Accounts, audit, filings</a:t>
                      </a:r>
                      <a:endParaRPr lang="en-US" sz="9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KAP</a:t>
                      </a:r>
                      <a:endParaRPr lang="en-US" sz="9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Federation shared team</a:t>
                      </a:r>
                      <a:endParaRPr lang="en-US" sz="9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Buying from farmers and paying them</a:t>
                      </a:r>
                      <a:endParaRPr lang="en-US" sz="9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FPO with KAP</a:t>
                      </a:r>
                      <a:endParaRPr lang="en-US" sz="9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FPO CEO and women agents</a:t>
                      </a:r>
                      <a:endParaRPr lang="en-US" sz="9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Lending decisions</a:t>
                      </a:r>
                      <a:endParaRPr lang="en-US" sz="9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KAP with the Foundation</a:t>
                      </a:r>
                      <a:endParaRPr lang="en-US" sz="9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Federation credit committee with partner bank</a:t>
                      </a:r>
                      <a:endParaRPr lang="en-US" sz="9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9" name="Shape 46"/>
          <p:cNvSpPr/>
          <p:nvPr/>
        </p:nvSpPr>
        <p:spPr>
          <a:xfrm>
            <a:off x="8001000" y="1371600"/>
            <a:ext cx="3733495" cy="3063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138160" y="1463040"/>
            <a:ext cx="34591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BEFORE SUPPORT ENDS, EACH FPO MUST, FOR 2 YEARS RUNNING: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8138160" y="1810512"/>
            <a:ext cx="256032" cy="25603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138160" y="1810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8503920" y="1792224"/>
            <a:ext cx="3093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Cover 100% of running cost from its own income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8138160" y="2176272"/>
            <a:ext cx="256032" cy="25603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8138160" y="2176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56" name="Text 53"/>
          <p:cNvSpPr txBox="1"/>
          <p:nvPr/>
        </p:nvSpPr>
        <p:spPr>
          <a:xfrm>
            <a:off x="8503920" y="2157984"/>
            <a:ext cx="3093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Have 40%+ of members selling through it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8138160" y="2542032"/>
            <a:ext cx="256032" cy="25603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138160" y="25420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59" name="Text 56"/>
          <p:cNvSpPr txBox="1"/>
          <p:nvPr/>
        </p:nvSpPr>
        <p:spPr>
          <a:xfrm>
            <a:off x="8503920" y="2523744"/>
            <a:ext cx="3093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Have 2+ buyers with written agreements, none above 50%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8138160" y="2907792"/>
            <a:ext cx="256032" cy="25603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8138160" y="29077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62" name="Text 59"/>
          <p:cNvSpPr txBox="1"/>
          <p:nvPr/>
        </p:nvSpPr>
        <p:spPr>
          <a:xfrm>
            <a:off x="8503920" y="2889504"/>
            <a:ext cx="3093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Hold a credit line in its own name, nothing overdue 90+ days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138160" y="3273552"/>
            <a:ext cx="256032" cy="25603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138160" y="3273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65" name="Text 62"/>
          <p:cNvSpPr txBox="1"/>
          <p:nvPr/>
        </p:nvSpPr>
        <p:spPr>
          <a:xfrm>
            <a:off x="8503920" y="3255264"/>
            <a:ext cx="3093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File audited accounts and returns on time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8138160" y="3639312"/>
            <a:ext cx="256032" cy="25603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8138160" y="3639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68" name="Text 65"/>
          <p:cNvSpPr txBox="1"/>
          <p:nvPr/>
        </p:nvSpPr>
        <p:spPr>
          <a:xfrm>
            <a:off x="8503920" y="3621024"/>
            <a:ext cx="3093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Have 3+ women directors and 30%+ women members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8138160" y="4005072"/>
            <a:ext cx="256032" cy="25603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8138160" y="40050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71" name="Text 68"/>
          <p:cNvSpPr txBox="1"/>
          <p:nvPr/>
        </p:nvSpPr>
        <p:spPr>
          <a:xfrm>
            <a:off x="8503920" y="3986784"/>
            <a:ext cx="3093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Have tested a flood plan in the last season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8001000" y="4572000"/>
            <a:ext cx="3733495" cy="155448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138160" y="4663440"/>
            <a:ext cx="34591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CHECKPOINT, END OF YEAR 2</a:t>
            </a:r>
            <a:endParaRPr lang="en-US" sz="1000" dirty="0"/>
          </a:p>
        </p:txBody>
      </p:sp>
      <p:sp>
        <p:nvSpPr>
          <p:cNvPr id="74" name="Text 71"/>
          <p:cNvSpPr txBox="1"/>
          <p:nvPr/>
        </p:nvSpPr>
        <p:spPr>
          <a:xfrm>
            <a:off x="8138160" y="4919472"/>
            <a:ext cx="345917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Years 3 to 5 money and the 18 extra cohort 2 FPOs are released only if: </a:t>
            </a:r>
            <a:r>
              <a:rPr lang="en-US" sz="1000" b="1" dirty="0">
                <a:solidFill>
                  <a:schemeClr val="tx1"/>
                </a:solidFill>
              </a:rPr>
              <a:t>9 of 12</a:t>
            </a:r>
            <a:r>
              <a:rPr lang="en-US" sz="1000" dirty="0">
                <a:solidFill>
                  <a:schemeClr val="tx1"/>
                </a:solidFill>
              </a:rPr>
              <a:t> FPOs cover more than half their running cost; fund repayment is </a:t>
            </a:r>
            <a:r>
              <a:rPr lang="en-US" sz="1000" b="1" dirty="0">
                <a:solidFill>
                  <a:schemeClr val="tx1"/>
                </a:solidFill>
              </a:rPr>
              <a:t>95%</a:t>
            </a:r>
            <a:r>
              <a:rPr lang="en-US" sz="1000" dirty="0">
                <a:solidFill>
                  <a:schemeClr val="tx1"/>
                </a:solidFill>
              </a:rPr>
              <a:t> or more; </a:t>
            </a:r>
            <a:r>
              <a:rPr lang="en-US" sz="1000" b="1" dirty="0">
                <a:solidFill>
                  <a:schemeClr val="tx1"/>
                </a:solidFill>
              </a:rPr>
              <a:t>2+</a:t>
            </a:r>
            <a:r>
              <a:rPr lang="en-US" sz="1000" dirty="0">
                <a:solidFill>
                  <a:schemeClr val="tx1"/>
                </a:solidFill>
              </a:rPr>
              <a:t> maize buyers are in use; women are </a:t>
            </a:r>
            <a:r>
              <a:rPr lang="en-US" sz="1000" b="1" dirty="0">
                <a:solidFill>
                  <a:schemeClr val="tx1"/>
                </a:solidFill>
              </a:rPr>
              <a:t>28%+</a:t>
            </a:r>
            <a:r>
              <a:rPr lang="en-US" sz="1000" dirty="0">
                <a:solidFill>
                  <a:schemeClr val="tx1"/>
                </a:solidFill>
              </a:rPr>
              <a:t> of members. If not, the Foundation keeps the money and KAP fixes the gaps first.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182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ANSWER      </a:t>
            </a:r>
            <a:r>
              <a:rPr lang="en-US" sz="900" dirty="0">
                <a:solidFill>
                  <a:schemeClr val="accent5"/>
                </a:solidFill>
              </a:rPr>
              <a:t>PRIORITIES      </a:t>
            </a:r>
            <a:r>
              <a:rPr lang="en-US" sz="900" dirty="0">
                <a:solidFill>
                  <a:schemeClr val="accent5"/>
                </a:solidFill>
              </a:rPr>
              <a:t>INTERVENTIONS      </a:t>
            </a:r>
            <a:r>
              <a:rPr lang="en-US" sz="900" dirty="0">
                <a:solidFill>
                  <a:schemeClr val="accent5"/>
                </a:solidFill>
              </a:rPr>
              <a:t>OUTCOMES      </a:t>
            </a:r>
            <a:r>
              <a:rPr lang="en-US" sz="900" dirty="0">
                <a:solidFill>
                  <a:schemeClr val="accent5"/>
                </a:solidFill>
              </a:rPr>
              <a:t>ROADMAP      </a:t>
            </a:r>
            <a:r>
              <a:rPr lang="en-US" sz="900" b="1" dirty="0">
                <a:solidFill>
                  <a:schemeClr val="tx2"/>
                </a:solidFill>
              </a:rPr>
              <a:t>BUDGET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About half the money makes KAP's 12 FPOs self-running; the other half takes the same model to 24 more Kosi FPOs and makes the federation self-funding</a:t>
            </a:r>
            <a:endParaRPr lang="en-US" sz="21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6446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Rs lakh at Rs 95 per US$ (US$1 million = Rs 950 lakh a year). Sources: model sheets Budget and Federation; S2, S4, S13.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6903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BUDGET BY YEAR (RS LAKH)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27632"/>
          <a:ext cx="69037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"/>
                <a:gridCol w="548640"/>
                <a:gridCol w="548640"/>
                <a:gridCol w="548640"/>
                <a:gridCol w="548640"/>
                <a:gridCol w="731520"/>
                <a:gridCol w="6858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5"/>
                          </a:solidFill>
                        </a:rPr>
                        <a:t>Rs lakh</a:t>
                      </a:r>
                      <a:endParaRPr lang="en-US" sz="850" dirty="0"/>
                    </a:p>
                  </a:txBody>
                  <a:tcPr marL="63500" marR="635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5"/>
                          </a:solidFill>
                        </a:rPr>
                        <a:t>Y1</a:t>
                      </a:r>
                      <a:endParaRPr lang="en-US" sz="850" dirty="0"/>
                    </a:p>
                  </a:txBody>
                  <a:tcPr marL="63500" marR="635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5"/>
                          </a:solidFill>
                        </a:rPr>
                        <a:t>Y2</a:t>
                      </a:r>
                      <a:endParaRPr lang="en-US" sz="850" dirty="0"/>
                    </a:p>
                  </a:txBody>
                  <a:tcPr marL="63500" marR="635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5"/>
                          </a:solidFill>
                        </a:rPr>
                        <a:t>Y3</a:t>
                      </a:r>
                      <a:endParaRPr lang="en-US" sz="850" dirty="0"/>
                    </a:p>
                  </a:txBody>
                  <a:tcPr marL="63500" marR="635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5"/>
                          </a:solidFill>
                        </a:rPr>
                        <a:t>Y4</a:t>
                      </a:r>
                      <a:endParaRPr lang="en-US" sz="850" dirty="0"/>
                    </a:p>
                  </a:txBody>
                  <a:tcPr marL="63500" marR="635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5"/>
                          </a:solidFill>
                        </a:rPr>
                        <a:t>Y5</a:t>
                      </a:r>
                      <a:endParaRPr lang="en-US" sz="850" dirty="0"/>
                    </a:p>
                  </a:txBody>
                  <a:tcPr marL="63500" marR="635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5"/>
                          </a:solidFill>
                        </a:rPr>
                        <a:t>5 years</a:t>
                      </a:r>
                      <a:endParaRPr lang="en-US" sz="850" dirty="0"/>
                    </a:p>
                  </a:txBody>
                  <a:tcPr marL="63500" marR="635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5"/>
                          </a:solidFill>
                        </a:rPr>
                        <a:t>Share</a:t>
                      </a:r>
                      <a:endParaRPr lang="en-US" sz="850" dirty="0"/>
                    </a:p>
                  </a:txBody>
                  <a:tcPr marL="63500" marR="635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Sell together (sales desk, quality, women agents)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132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132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108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74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486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10%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Fund the season (capital that stays)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150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300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6%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Store smart (asset kits)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73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122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3%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People, women, climate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172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154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121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93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600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13%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KAP team, federation, evaluation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195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215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190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75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800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17%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Cohort 2: 24 more FPOs (18 after checkpoint)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228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300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481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658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775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2,442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51%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950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950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950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950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950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4,750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Total in US$ million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5.00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886200"/>
            <a:ext cx="6903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WHO PAYS THE RUNNING COSTS AFTER THE GRANTS</a:t>
            </a:r>
            <a:endParaRPr lang="en-US" sz="10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42232"/>
          <a:ext cx="6903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43000"/>
                <a:gridCol w="37490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5"/>
                          </a:solidFill>
                        </a:rPr>
                        <a:t>Cost</a:t>
                      </a:r>
                      <a:endParaRPr lang="en-US" sz="850" dirty="0"/>
                    </a:p>
                  </a:txBody>
                  <a:tcPr marL="63500" marR="635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5"/>
                          </a:solidFill>
                        </a:rPr>
                        <a:t>Paid by</a:t>
                      </a:r>
                      <a:endParaRPr lang="en-US" sz="850" dirty="0"/>
                    </a:p>
                  </a:txBody>
                  <a:tcPr marL="63500" marR="635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5"/>
                          </a:solidFill>
                        </a:rPr>
                        <a:t>From</a:t>
                      </a:r>
                      <a:endParaRPr lang="en-US" sz="850" dirty="0"/>
                    </a:p>
                  </a:txBody>
                  <a:tcPr marL="63500" marR="635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FPO CEO, assistant, office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FPO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Margins, storage gain, service fees (92% to 98% cover)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Accounts, audit, sales desk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Federation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Rs 1.2 lakh fee per FPO, 1% maize commission, bulk input margin, fund interest: 158% cover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Seasonal working capital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FPO and banks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Share capital plus matching grant, revolving fund, bank lines, e-NWR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7680960" y="1371600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CORE 12 FPOS VS COHORT 2 (RS LAKH)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680960" y="1600200"/>
          <a:ext cx="4053535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6"/>
          <p:cNvSpPr/>
          <p:nvPr/>
        </p:nvSpPr>
        <p:spPr>
          <a:xfrm>
            <a:off x="7680960" y="4297680"/>
            <a:ext cx="1290218" cy="1097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754112" y="4361688"/>
            <a:ext cx="114391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Rs 38 lakh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7754112" y="4727448"/>
            <a:ext cx="11439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per core FPO a year, incl. capital that stays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9062618" y="4297680"/>
            <a:ext cx="1290218" cy="1097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9135770" y="4361688"/>
            <a:ext cx="114391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Rs 29 lakh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9135770" y="4727448"/>
            <a:ext cx="11439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per cohort 2 FPO a year (75%: desk and fund exist)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10444277" y="4297680"/>
            <a:ext cx="1290218" cy="1097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10517429" y="4361688"/>
            <a:ext cx="114391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Rs 20,300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10517429" y="4727448"/>
            <a:ext cx="11439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per farmer over 5 years (23,400 members)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7680960" y="5532120"/>
            <a:ext cx="4053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Why spending shifts:</a:t>
            </a:r>
            <a:r>
              <a:rPr lang="en-US" sz="1000" dirty="0">
                <a:solidFill>
                  <a:schemeClr val="tx2"/>
                </a:solidFill>
              </a:rPr>
              <a:t> capital is spent early; salary and KAP support taper to zero; cohort 2 grows only after the checkpoint. The core 12 fall from 76% of the money in Year 1 to 18% in Year 5.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19456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3832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Sell together, fund the season, store smart: 12 FPOs from 22% to 92% to 98% cost cover, a federation at 158%, and a model 24 more Kosi FPOs can use.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182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APPENDIX A1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Unit economics: how one FPO gets from today to Year 5</a:t>
            </a:r>
            <a:endParaRPr lang="en-US" sz="21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6446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Rs lakh a year. Today = case midpoint turnover; running cost today assumes a professional team with no grant. Model sheet Unit_Econ.</a:t>
            </a:r>
            <a:endParaRPr lang="en-US" sz="8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749808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005840"/>
                <a:gridCol w="1005840"/>
                <a:gridCol w="1005840"/>
                <a:gridCol w="10058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chemeClr val="accent5"/>
                          </a:solidFill>
                        </a:rPr>
                        <a:t>Rs lakh a year</a:t>
                      </a:r>
                      <a:endParaRPr lang="en-US" sz="750" dirty="0"/>
                    </a:p>
                  </a:txBody>
                  <a:tcPr marL="63500" marR="63500" marT="12700" marB="127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chemeClr val="accent5"/>
                          </a:solidFill>
                        </a:rPr>
                        <a:t>Maize today</a:t>
                      </a:r>
                      <a:endParaRPr lang="en-US" sz="750" dirty="0"/>
                    </a:p>
                  </a:txBody>
                  <a:tcPr marL="63500" marR="63500" marT="12700" marB="127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chemeClr val="accent5"/>
                          </a:solidFill>
                        </a:rPr>
                        <a:t>Maize Y5</a:t>
                      </a:r>
                      <a:endParaRPr lang="en-US" sz="750" dirty="0"/>
                    </a:p>
                  </a:txBody>
                  <a:tcPr marL="63500" marR="63500" marT="12700" marB="127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chemeClr val="accent5"/>
                          </a:solidFill>
                        </a:rPr>
                        <a:t>Veg today</a:t>
                      </a:r>
                      <a:endParaRPr lang="en-US" sz="750" dirty="0"/>
                    </a:p>
                  </a:txBody>
                  <a:tcPr marL="63500" marR="63500" marT="12700" marB="127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chemeClr val="accent5"/>
                          </a:solidFill>
                        </a:rPr>
                        <a:t>Veg Y5</a:t>
                      </a:r>
                      <a:endParaRPr lang="en-US" sz="750" dirty="0"/>
                    </a:p>
                  </a:txBody>
                  <a:tcPr marL="63500" marR="63500" marT="12700" marB="127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Members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500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650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500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650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Women share of members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20%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38%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20%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38%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Members selling through the FPO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325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293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Produce handled (t)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342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559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Produce sales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77.0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78.3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Input sales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27.3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18.2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Nursery sales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0.0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5.0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Turnover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27.5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104.3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27.5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101.5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Margin on produce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2.3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5.5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Net gain on stored maize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1.2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0.0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Margin on inputs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2.2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1.8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Margin on nursery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0.0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1.5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Service fees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2.1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0.6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Income the FPO keeps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1.4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7.8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1.4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9.4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CEO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3.6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3.6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3.6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3.6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Assistant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1.4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1.4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1.8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1.8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Office, travel, AGM, filing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0.9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0.9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0.9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0.9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Federation fee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0.0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1.2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0.0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1.2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Asset upkeep and insurance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0.0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0.3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0.0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1.6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Loan repayment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0.0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0.0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1.1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Running cost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5.9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8.0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6.3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10.2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Share of running cost covered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23%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98%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22%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92%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Break-even turnover at Year 5 margins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107.0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109.9</a:t>
                      </a:r>
                      <a:endParaRPr lang="en-US" sz="900" dirty="0"/>
                    </a:p>
                  </a:txBody>
                  <a:tcPr marL="63500" marR="635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229600" y="1371600"/>
            <a:ext cx="3504895" cy="2926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366760" y="146304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HOW TO READ IT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366760" y="1737360"/>
            <a:ext cx="322783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Produce handled = sellers x area x yield x share sold x share the FPO handles.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Income kept = margins on produce and inputs + storage gain + fees for drying, storage and cold rooms.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Running cost includes the federation fee and loan repayment, so "covered" means fully independent.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Today's cover uses the same professional cost base, to compare like with like.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182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APPENDIX A2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Working capital and asset funding: claim and lease first, then lend, then grant</a:t>
            </a:r>
            <a:endParaRPr lang="en-US" sz="21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6446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Rs lakh. Model sheets Working_Capital and Infra. S2 matching equity grant; S5 AIF; S6 MIDH; S7 e-NWR guarantee; S16 PACS godowns.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WORKING CAPITAL IN YEAR 5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27632"/>
          <a:ext cx="55778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914400"/>
                <a:gridCol w="9144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5"/>
                          </a:solidFill>
                        </a:rPr>
                        <a:t>Rs lakh</a:t>
                      </a:r>
                      <a:endParaRPr lang="en-US" sz="850" dirty="0"/>
                    </a:p>
                  </a:txBody>
                  <a:tcPr marL="63500" marR="635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5"/>
                          </a:solidFill>
                        </a:rPr>
                        <a:t>Maize FPO</a:t>
                      </a:r>
                      <a:endParaRPr lang="en-US" sz="850" dirty="0"/>
                    </a:p>
                  </a:txBody>
                  <a:tcPr marL="63500" marR="635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5"/>
                          </a:solidFill>
                        </a:rPr>
                        <a:t>Veg FPO</a:t>
                      </a:r>
                      <a:endParaRPr lang="en-US" sz="850" dirty="0"/>
                    </a:p>
                  </a:txBody>
                  <a:tcPr marL="63500" marR="635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5"/>
                          </a:solidFill>
                        </a:rPr>
                        <a:t>All 12</a:t>
                      </a:r>
                      <a:endParaRPr lang="en-US" sz="850" dirty="0"/>
                    </a:p>
                  </a:txBody>
                  <a:tcPr marL="63500" marR="635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Peak cash tied up in buying produce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34.7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15.7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320.9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Input credit to members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8.2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5.5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84.6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Peak need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42.8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21.1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405.5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Members' share capital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13.0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13.0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156.0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Government matching equity grant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13.0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13.0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156.0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Less own share of asset kit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-1.0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-4.0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-27.0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Gap to finance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17.8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0.0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120.5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From the federation revolving fund (60%)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10.7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0.0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72.3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From banks and NBFCs (40%)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7.1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0.0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48.2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16052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Stored maize is financed separately by e-NWR pledge loans. NBFC = non-bank finance company. Today's gap across the 12 FPOs is Rs 180 lakh; claiming the matching grant closes most of it.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1371600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ASSET KIT PER FPO AND WHO PAYS</a:t>
            </a:r>
            <a:endParaRPr lang="en-US" sz="10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27632"/>
          <a:ext cx="5330952" cy="914400"/>
        </p:xfrm>
        <a:graphic>
          <a:graphicData uri="http://schemas.openxmlformats.org/drawingml/2006/table">
            <a:tbl>
              <a:tblPr/>
              <a:tblGrid>
                <a:gridCol w="3136392"/>
                <a:gridCol w="1097280"/>
                <a:gridCol w="10972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5"/>
                          </a:solidFill>
                        </a:rPr>
                        <a:t>Rs lakh</a:t>
                      </a:r>
                      <a:endParaRPr lang="en-US" sz="850" dirty="0"/>
                    </a:p>
                  </a:txBody>
                  <a:tcPr marL="63500" marR="635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5"/>
                          </a:solidFill>
                        </a:rPr>
                        <a:t>Maize</a:t>
                      </a:r>
                      <a:endParaRPr lang="en-US" sz="850" dirty="0"/>
                    </a:p>
                  </a:txBody>
                  <a:tcPr marL="63500" marR="635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5"/>
                          </a:solidFill>
                        </a:rPr>
                        <a:t>Veg</a:t>
                      </a:r>
                      <a:endParaRPr lang="en-US" sz="850" dirty="0"/>
                    </a:p>
                  </a:txBody>
                  <a:tcPr marL="63500" marR="635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Drying yard, moisture meter, scale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4.0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0.0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Shared mobile dryer, cleaner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5.0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0.0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PACS godown upgrade (leased)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1.0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0.0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Two 5 t solar cold rooms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0.0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18.0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Pack shed on raised plinth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0.0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8.0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Collection points and crates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0.0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8.0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Shade-net nursery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0.0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6.0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Total kit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10.0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40.0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Foundation grant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6.0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16.0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Government subsidy (MIDH 35%)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0.0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14.0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FPO own funds (10%)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1.0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4.0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AIF bank loan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3.0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6.0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Yearly loan repayment (6%, 7 years)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0.54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1.07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6400800" y="4709160"/>
            <a:ext cx="5330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Assets worth 2.2 times the Foundation's grant. We lease godowns instead of building: Bihar has just built 6,158 PACS godowns (16.9 lakh tonnes).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182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APPENDIX A3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The federation pays its own way by Year 5 (158% cost cover); FPO cost cover stays above 74% even under stress</a:t>
            </a:r>
            <a:endParaRPr lang="en-US" sz="21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6446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Rs lakh a year. Model sheets Federation and Sensitivity. S4 NBFC lending rates.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FEDERATION IN YEAR 5 (36 MEMBER FPOS)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27632"/>
          <a:ext cx="557784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10972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5"/>
                          </a:solidFill>
                        </a:rPr>
                        <a:t>Rs lakh a year</a:t>
                      </a:r>
                      <a:endParaRPr lang="en-US" sz="850" dirty="0"/>
                    </a:p>
                  </a:txBody>
                  <a:tcPr marL="63500" marR="635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5"/>
                          </a:solidFill>
                        </a:rPr>
                        <a:t>Value</a:t>
                      </a:r>
                      <a:endParaRPr lang="en-US" sz="850" dirty="0"/>
                    </a:p>
                  </a:txBody>
                  <a:tcPr marL="63500" marR="635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Federation CEO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9.0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Market desk (2 sales managers)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12.0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Accounts and compliance team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9.0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Office, software, travel, audit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5.0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Extra servicing for FPOs beyond 12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9.6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Running cost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44.6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Fees from member FPOs (Rs 1.2 lakh each)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43.2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1% commission on maize sold via federation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8.3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1.5% margin on bulk input buying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9.3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Net interest: Rs 159 lakh lent at 10% less 4% loss and admin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9.5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Income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70.4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Share of running cost covered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</a:rPr>
                        <a:t>158%</a:t>
                      </a:r>
                      <a:endParaRPr lang="en-US" sz="100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0" y="1371600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FPO COST COVER UNDER STRESS, YEAR 5</a:t>
            </a:r>
            <a:endParaRPr lang="en-US" sz="10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27632"/>
          <a:ext cx="5330952" cy="914400"/>
        </p:xfrm>
        <a:graphic>
          <a:graphicData uri="http://schemas.openxmlformats.org/drawingml/2006/table">
            <a:tbl>
              <a:tblPr/>
              <a:tblGrid>
                <a:gridCol w="3502152"/>
                <a:gridCol w="914400"/>
                <a:gridCol w="9144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chemeClr val="accent5"/>
                          </a:solidFill>
                        </a:rPr>
                        <a:t>Scenario</a:t>
                      </a:r>
                      <a:endParaRPr lang="en-US" sz="900" dirty="0"/>
                    </a:p>
                  </a:txBody>
                  <a:tcPr marL="63500" marR="635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accent5"/>
                          </a:solidFill>
                        </a:rPr>
                        <a:t>Maize</a:t>
                      </a:r>
                      <a:endParaRPr lang="en-US" sz="900" dirty="0"/>
                    </a:p>
                  </a:txBody>
                  <a:tcPr marL="63500" marR="635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accent5"/>
                          </a:solidFill>
                        </a:rPr>
                        <a:t>Veg</a:t>
                      </a:r>
                      <a:endParaRPr lang="en-US" sz="900" dirty="0"/>
                    </a:p>
                  </a:txBody>
                  <a:tcPr marL="63500" marR="635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Base case</a:t>
                      </a:r>
                      <a:endParaRPr lang="en-US" sz="105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98%</a:t>
                      </a:r>
                      <a:endParaRPr lang="en-US" sz="105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92%</a:t>
                      </a:r>
                      <a:endParaRPr lang="en-US" sz="105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Only 39% of members sell (SRIJAN level)</a:t>
                      </a:r>
                      <a:endParaRPr lang="en-US" sz="105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82%</a:t>
                      </a:r>
                      <a:endParaRPr lang="en-US" sz="105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85%</a:t>
                      </a:r>
                      <a:endParaRPr lang="en-US" sz="105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Prices 10% lower</a:t>
                      </a:r>
                      <a:endParaRPr lang="en-US" sz="105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91%</a:t>
                      </a:r>
                      <a:endParaRPr lang="en-US" sz="105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87%</a:t>
                      </a:r>
                      <a:endParaRPr lang="en-US" sz="105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Maize yield 4.0 t/ha</a:t>
                      </a:r>
                      <a:endParaRPr lang="en-US" sz="105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90%</a:t>
                      </a:r>
                      <a:endParaRPr lang="en-US" sz="105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92%</a:t>
                      </a:r>
                      <a:endParaRPr lang="en-US" sz="105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Flood year: vegetables lose 1 of 1.5 seasons</a:t>
                      </a:r>
                      <a:endParaRPr lang="en-US" sz="105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98%</a:t>
                      </a:r>
                      <a:endParaRPr lang="en-US" sz="105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74%</a:t>
                      </a:r>
                      <a:endParaRPr lang="en-US" sz="105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400800" y="3657600"/>
            <a:ext cx="5330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Revolving fund: Rs 250 lakh capital (incl. Rs 50 lakh flood window); about 64% lent out on average, so the flood window stays liquid. Fund rate of 10% is below the 14% to 15% NBFCs charge FPOs.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182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APPENDIX A4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Assumptions behind the numbers, with reasons and sources</a:t>
            </a:r>
            <a:endParaRPr lang="en-US" sz="21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6446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Full list with notes in model sheet Assumptions. Source codes refer to Appendix A6.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729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960120"/>
                <a:gridCol w="960120"/>
                <a:gridCol w="624535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chemeClr val="accent5"/>
                          </a:solidFill>
                        </a:rPr>
                        <a:t>Assumption</a:t>
                      </a:r>
                      <a:endParaRPr lang="en-US" sz="900" dirty="0"/>
                    </a:p>
                  </a:txBody>
                  <a:tcPr marL="63500" marR="635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chemeClr val="accent5"/>
                          </a:solidFill>
                        </a:rPr>
                        <a:t>Maize</a:t>
                      </a:r>
                      <a:endParaRPr lang="en-US" sz="900" dirty="0"/>
                    </a:p>
                  </a:txBody>
                  <a:tcPr marL="63500" marR="635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chemeClr val="accent5"/>
                          </a:solidFill>
                        </a:rPr>
                        <a:t>Veg</a:t>
                      </a:r>
                      <a:endParaRPr lang="en-US" sz="900" dirty="0"/>
                    </a:p>
                  </a:txBody>
                  <a:tcPr marL="63500" marR="635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chemeClr val="accent5"/>
                          </a:solidFill>
                        </a:rPr>
                        <a:t>Reason and source</a:t>
                      </a:r>
                      <a:endParaRPr lang="en-US" sz="900" dirty="0"/>
                    </a:p>
                  </a:txBody>
                  <a:tcPr marL="63500" marR="635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Members who sell produce through the FPO</a:t>
                      </a:r>
                      <a:endParaRPr lang="en-US" sz="10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50%</a:t>
                      </a:r>
                      <a:endParaRPr lang="en-US" sz="10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45%</a:t>
                      </a:r>
                      <a:endParaRPr lang="en-US" sz="10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[S9] SRIJAN raised members selling to their FPOs to 39% in 2 years; we allow 5 years plus input credit tied to sales. Vegetables lower because of daily, small lots</a:t>
                      </a:r>
                      <a:endParaRPr lang="en-US" sz="9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Crop area per selling member</a:t>
                      </a:r>
                      <a:endParaRPr lang="en-US" sz="10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0.4 ha</a:t>
                      </a:r>
                      <a:endParaRPr lang="en-US" sz="10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0.2 ha</a:t>
                      </a:r>
                      <a:endParaRPr lang="en-US" sz="10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[S11] 83% of Bihar holdings are under 1 ha. Maize is the main rabi crop in Kosi; vegetables are grown on small plots</a:t>
                      </a:r>
                      <a:endParaRPr lang="en-US" sz="9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Yield per hectare per year</a:t>
                      </a:r>
                      <a:endParaRPr lang="en-US" sz="10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4.5 t/ha</a:t>
                      </a:r>
                      <a:endParaRPr lang="en-US" sz="10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22.5 t/ha</a:t>
                      </a:r>
                      <a:endParaRPr lang="en-US" sz="10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[S11] Bihar maize about 4 t/ha, rabi higher. Vegetables: 15 t/ha a season x 1.5 seasons (our assumption)</a:t>
                      </a:r>
                      <a:endParaRPr lang="en-US" sz="9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Share of a selling member's output the FPO handles</a:t>
                      </a:r>
                      <a:endParaRPr lang="en-US" sz="10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65%</a:t>
                      </a:r>
                      <a:endParaRPr lang="en-US" sz="10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50%</a:t>
                      </a:r>
                      <a:endParaRPr lang="en-US" sz="10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Input credit repaid in produce and assured payment in 7 days pull volume; vegetables lower because of side-selling to local markets</a:t>
                      </a:r>
                      <a:endParaRPr lang="en-US" sz="9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Average farm-gate price</a:t>
                      </a:r>
                      <a:endParaRPr lang="en-US" sz="10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Rs 22,500/t</a:t>
                      </a:r>
                      <a:endParaRPr lang="en-US" sz="10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Rs 14,000/t</a:t>
                      </a:r>
                      <a:endParaRPr lang="en-US" sz="10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[S14] Maize MSP Rs 2,400/qtl but Bihar has no state maize procurement; Purnia mandi near Rs 2,100 to 2,300. Vegetables: blended Rs 14/kg (our assumption)</a:t>
                      </a:r>
                      <a:endParaRPr lang="en-US" sz="9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Input spend per member per year</a:t>
                      </a:r>
                      <a:endParaRPr lang="en-US" sz="10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Rs 12,000</a:t>
                      </a:r>
                      <a:endParaRPr lang="en-US" sz="10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Rs 8,000</a:t>
                      </a:r>
                      <a:endParaRPr lang="en-US" sz="10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Seed, fertiliser and crop protection for 0.4 ha maize or 0.2 ha vegetables (our assumption)</a:t>
                      </a:r>
                      <a:endParaRPr lang="en-US" sz="9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Margin on produce sold</a:t>
                      </a:r>
                      <a:endParaRPr lang="en-US" sz="10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3%</a:t>
                      </a:r>
                      <a:endParaRPr lang="en-US" sz="10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7%</a:t>
                      </a:r>
                      <a:endParaRPr lang="en-US" sz="10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Maize: about Rs 65/qtl spread on bulk contracts. Vegetables: grading premium and lower loss [S12: 4.9% to 11.6% vegetable loss]</a:t>
                      </a:r>
                      <a:endParaRPr lang="en-US" sz="9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Share of maize held in storage for later sale</a:t>
                      </a:r>
                      <a:endParaRPr lang="en-US" sz="10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40%</a:t>
                      </a:r>
                      <a:endParaRPr lang="en-US" sz="10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0%</a:t>
                      </a:r>
                      <a:endParaRPr lang="en-US" sz="10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[S15] Small farmers sell in distress at harvest; larger farmers hold 3 to 4 months</a:t>
                      </a:r>
                      <a:endParaRPr lang="en-US" sz="9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Net gain on stored maize after rent, interest and shrinkage</a:t>
                      </a:r>
                      <a:endParaRPr lang="en-US" sz="10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4%</a:t>
                      </a:r>
                      <a:endParaRPr lang="en-US" sz="10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0%</a:t>
                      </a:r>
                      <a:endParaRPr lang="en-US" sz="10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Assumes about 9% to 10% price rise in 4 months less about 5% holding cost; e-NWR pledge loan pays for the stock [S7]</a:t>
                      </a:r>
                      <a:endParaRPr lang="en-US" sz="9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Margin on inputs</a:t>
                      </a:r>
                      <a:endParaRPr lang="en-US" sz="10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8%</a:t>
                      </a:r>
                      <a:endParaRPr lang="en-US" sz="10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10%</a:t>
                      </a:r>
                      <a:endParaRPr lang="en-US" sz="10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Dealer margin on bulk seed and fertiliser (our assumption)</a:t>
                      </a:r>
                      <a:endParaRPr lang="en-US" sz="9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CEO salary</a:t>
                      </a:r>
                      <a:endParaRPr lang="en-US" sz="10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Rs 3.6 lakh</a:t>
                      </a:r>
                      <a:endParaRPr lang="en-US" sz="10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Rs 3.6 lakh</a:t>
                      </a:r>
                      <a:endParaRPr lang="en-US" sz="10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Rs 30,000 a month. Govt management cost norm is Rs 18 lakh over 3 years = Rs 6 lakh a year for all costs [S2]</a:t>
                      </a:r>
                      <a:endParaRPr lang="en-US" sz="9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Fee to federation for accounts, compliance and market desk</a:t>
                      </a:r>
                      <a:endParaRPr lang="en-US" sz="10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Rs 1.2 lakh</a:t>
                      </a:r>
                      <a:endParaRPr lang="en-US" sz="10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Rs 1.2 lakh</a:t>
                      </a:r>
                      <a:endParaRPr lang="en-US" sz="10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Shared chartered accountant, audit, ROC filings and sales desk; cheaper than each FPO hiring its own</a:t>
                      </a:r>
                      <a:endParaRPr lang="en-US" sz="9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Asset kit per FPO</a:t>
                      </a:r>
                      <a:endParaRPr lang="en-US" sz="10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Rs 10 lakh</a:t>
                      </a:r>
                      <a:endParaRPr lang="en-US" sz="10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Rs 40 lakh</a:t>
                      </a:r>
                      <a:endParaRPr lang="en-US" sz="10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See Infra sheet. Maize stores in leased PACS godowns, so its kit is small</a:t>
                      </a:r>
                      <a:endParaRPr lang="en-US" sz="9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Foundation grant share</a:t>
                      </a:r>
                      <a:endParaRPr lang="en-US" sz="10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60%</a:t>
                      </a:r>
                      <a:endParaRPr lang="en-US" sz="10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40%</a:t>
                      </a:r>
                      <a:endParaRPr lang="en-US" sz="10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Our choice: grant share is higher for maize because its kit earns less</a:t>
                      </a:r>
                      <a:endParaRPr lang="en-US" sz="9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Peak working capital as share of yearly produce sales</a:t>
                      </a:r>
                      <a:endParaRPr lang="en-US" sz="10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45%</a:t>
                      </a:r>
                      <a:endParaRPr lang="en-US" sz="10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20%</a:t>
                      </a:r>
                      <a:endParaRPr lang="en-US" sz="10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Maize is one big rabi buying season with 30 to 60 day buyer payment; vegetables turn over within days</a:t>
                      </a:r>
                      <a:endParaRPr lang="en-US" sz="9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Exchange rate</a:t>
                      </a:r>
                      <a:endParaRPr lang="en-US" sz="10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Rs 95</a:t>
                      </a:r>
                      <a:endParaRPr lang="en-US" sz="10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10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[S13] Rupee at 94.8 to 95.95 per USD in Aug to Sep 2026; 95 used</a:t>
                      </a:r>
                      <a:endParaRPr lang="en-US" sz="950" dirty="0"/>
                    </a:p>
                  </a:txBody>
                  <a:tcPr marL="63500" marR="635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182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APPENDIX A5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Evidence and hit rates behind the targets, and the risks we watch</a:t>
            </a:r>
            <a:endParaRPr lang="en-US" sz="21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6446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Sources: S1, S3, S4, S9, S10, S18, S19, S21, S22 (Appendix A6). S9 is self-reported; S22 is a secondary citation.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WHAT SIMILAR EFFORTS ACHIEVED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27632"/>
          <a:ext cx="55778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6459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5"/>
                          </a:solidFill>
                        </a:rPr>
                        <a:t>Evidence</a:t>
                      </a:r>
                      <a:endParaRPr lang="en-US" sz="850" dirty="0"/>
                    </a:p>
                  </a:txBody>
                  <a:tcPr marL="63500" marR="635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5"/>
                          </a:solidFill>
                        </a:rPr>
                        <a:t>Figure</a:t>
                      </a:r>
                      <a:endParaRPr lang="en-US" sz="850" dirty="0"/>
                    </a:p>
                  </a:txBody>
                  <a:tcPr marL="63500" marR="635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FPOs that are financially viable (ICAR-NIAP)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About 1 in 3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Scheme FPOs above Rs 1 crore turnover, FY25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1,135 of 8,961 (12.7%)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FPOs profitable only with support (NAFPO 2026)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45%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Profitable without support: with vs without a loan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61% vs 43%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Women or mixed-led FPOs: survival after support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 to 13 points higher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SRIJAN, 12 FPOs, 2 years: turnover; members selling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+190%; 39%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JEEViKA maize company (Purnia): farmer returns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+15% to 20%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Producer companies older than 7 years, moribund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45%</a:t>
                      </a:r>
                      <a:endParaRPr lang="en-US" sz="1000" dirty="0"/>
                    </a:p>
                  </a:txBody>
                  <a:tcPr marL="63500" marR="63500" marT="381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0" y="1371600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RISKS: WARNING SIGNS AND RESPONSES</a:t>
            </a:r>
            <a:endParaRPr lang="en-US" sz="10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27632"/>
          <a:ext cx="533095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828800"/>
                <a:gridCol w="23134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chemeClr val="accent5"/>
                          </a:solidFill>
                        </a:rPr>
                        <a:t>Risk</a:t>
                      </a:r>
                      <a:endParaRPr lang="en-US" sz="750" dirty="0"/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chemeClr val="accent5"/>
                          </a:solidFill>
                        </a:rPr>
                        <a:t>Warning sign</a:t>
                      </a:r>
                      <a:endParaRPr lang="en-US" sz="750" dirty="0"/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chemeClr val="accent5"/>
                          </a:solidFill>
                        </a:rPr>
                        <a:t>Response</a:t>
                      </a:r>
                      <a:endParaRPr lang="en-US" sz="750" dirty="0"/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3D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Ethanol demand cut</a:t>
                      </a:r>
                      <a:endParaRPr lang="en-US" sz="900" dirty="0"/>
                    </a:p>
                  </a:txBody>
                  <a:tcPr marL="50800" marR="508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Distillery delays lifting or pays after 30 days</a:t>
                      </a:r>
                      <a:endParaRPr lang="en-US" sz="900" dirty="0"/>
                    </a:p>
                  </a:txBody>
                  <a:tcPr marL="50800" marR="508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Three-buyer rule; shift to feed mills; store under e-NWR</a:t>
                      </a:r>
                      <a:endParaRPr lang="en-US" sz="900" dirty="0"/>
                    </a:p>
                  </a:txBody>
                  <a:tcPr marL="50800" marR="508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Side-selling to traders</a:t>
                      </a:r>
                      <a:endParaRPr lang="en-US" sz="900" dirty="0"/>
                    </a:p>
                  </a:txBody>
                  <a:tcPr marL="50800" marR="508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Members selling stalls below 30%</a:t>
                      </a:r>
                      <a:endParaRPr lang="en-US" sz="900" dirty="0"/>
                    </a:p>
                  </a:txBody>
                  <a:tcPr marL="50800" marR="508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Pay in 7 days; input credit repaid in produce; daily prices</a:t>
                      </a:r>
                      <a:endParaRPr lang="en-US" sz="900" dirty="0"/>
                    </a:p>
                  </a:txBody>
                  <a:tcPr marL="50800" marR="508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Bad loans</a:t>
                      </a:r>
                      <a:endParaRPr lang="en-US" sz="900" dirty="0"/>
                    </a:p>
                  </a:txBody>
                  <a:tcPr marL="50800" marR="508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Repayment below 95%</a:t>
                      </a:r>
                      <a:endParaRPr lang="en-US" sz="900" dirty="0"/>
                    </a:p>
                  </a:txBody>
                  <a:tcPr marL="50800" marR="508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Credit committee; first-loss deposit; stop new loans to that FPO</a:t>
                      </a:r>
                      <a:endParaRPr lang="en-US" sz="900" dirty="0"/>
                    </a:p>
                  </a:txBody>
                  <a:tcPr marL="50800" marR="508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Flood</a:t>
                      </a:r>
                      <a:endParaRPr lang="en-US" sz="900" dirty="0"/>
                    </a:p>
                  </a:txBody>
                  <a:tcPr marL="50800" marR="508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Kosi alert or early inundation</a:t>
                      </a:r>
                      <a:endParaRPr lang="en-US" sz="900" dirty="0"/>
                    </a:p>
                  </a:txBody>
                  <a:tcPr marL="50800" marR="508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Raised godowns; flood loan window; nursery replanting; BRFSY claims</a:t>
                      </a:r>
                      <a:endParaRPr lang="en-US" sz="900" dirty="0"/>
                    </a:p>
                  </a:txBody>
                  <a:tcPr marL="50800" marR="508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Elite capture</a:t>
                      </a:r>
                      <a:endParaRPr lang="en-US" sz="900" dirty="0"/>
                    </a:p>
                  </a:txBody>
                  <a:tcPr marL="50800" marR="508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Same few directors; women fellows not elected</a:t>
                      </a:r>
                      <a:endParaRPr lang="en-US" sz="900" dirty="0"/>
                    </a:p>
                  </a:txBody>
                  <a:tcPr marL="50800" marR="508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Rotation rules; women's seats in exit tests; independent audit</a:t>
                      </a:r>
                      <a:endParaRPr lang="en-US" sz="900" dirty="0"/>
                    </a:p>
                  </a:txBody>
                  <a:tcPr marL="50800" marR="508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KAP spread thin</a:t>
                      </a:r>
                      <a:endParaRPr lang="en-US" sz="900" dirty="0"/>
                    </a:p>
                  </a:txBody>
                  <a:tcPr marL="50800" marR="508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Cohort 1 milestones slip</a:t>
                      </a:r>
                      <a:endParaRPr lang="en-US" sz="900" dirty="0"/>
                    </a:p>
                  </a:txBody>
                  <a:tcPr marL="50800" marR="508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Cohort 2 expansion gated on the checkpoint</a:t>
                      </a:r>
                      <a:endParaRPr lang="en-US" sz="900" dirty="0"/>
                    </a:p>
                  </a:txBody>
                  <a:tcPr marL="50800" marR="508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182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APPENDIX A6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Sources and glossary</a:t>
            </a:r>
            <a:endParaRPr lang="en-US" sz="21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" y="6446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Benchmarks confirmed through published reports and news coverage; full links in the working document.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66751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tx1"/>
                </a:solidFill>
              </a:rPr>
              <a:t>S1 ICAR-NIAP via Business Standard, Aug 2025: one third of FPOs viable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tx1"/>
                </a:solidFill>
              </a:rPr>
              <a:t>S2 Govt 10,000 FPO scheme guidelines and Rajya Sabha replies (CBBO fee, management cost, matching equity grant)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tx1"/>
                </a:solidFill>
              </a:rPr>
              <a:t>S3 Ministry of Agriculture via IANS, Jul 2025: FPO turnover bands, FY25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tx1"/>
                </a:solidFill>
              </a:rPr>
              <a:t>S4 NAFPO State of the Sector 2026 (Tribune); NABARD credit guarantee scheme; Samunnati FPO loan rates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tx1"/>
                </a:solidFill>
              </a:rPr>
              <a:t>S5 Agriculture Infrastructure Fund (myScheme, Indian Bank)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tx1"/>
                </a:solidFill>
              </a:rPr>
              <a:t>S6 MIDH post-harvest assistance (Rajya Sabha, Mar 2025)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tx1"/>
                </a:solidFill>
              </a:rPr>
              <a:t>S7 CGS-NPF e-NWR pledge finance guarantee, Dec 2024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tx1"/>
                </a:solidFill>
              </a:rPr>
              <a:t>S8 Solar cold room service, Muzaffarpur (pv magazine India)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tx1"/>
                </a:solidFill>
              </a:rPr>
              <a:t>S9 SRIJAN and Walmart Foundation results (Agrospectrum, Oct 2025)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tx1"/>
                </a:solidFill>
              </a:rPr>
              <a:t>S10 TCI Cornell and BIRD, State of FPOs in India 2026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tx1"/>
                </a:solidFill>
              </a:rPr>
              <a:t>S11 Maize supply chain in Bihar (DES); BAMETI state profile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tx1"/>
                </a:solidFill>
              </a:rPr>
              <a:t>S12 NABCONS 2022 post-harvest losses (Rajya Sabha, Feb 2025)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tx1"/>
                </a:solidFill>
              </a:rPr>
              <a:t>S13 Rupee at 94.8 to 95.95 per US$, Aug to Sep 2026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tx1"/>
                </a:solidFill>
              </a:rPr>
              <a:t>S14 Maize MSP 2025-26; Gulabbagh mandi prices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tx1"/>
                </a:solidFill>
              </a:rPr>
              <a:t>S15 Village Square, 101Reporters: distress sale of maize at harvest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tx1"/>
                </a:solidFill>
              </a:rPr>
              <a:t>S16 Bihar PACS godowns, Jun 2025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tx1"/>
                </a:solidFill>
              </a:rPr>
              <a:t>S17 Bihar exit from PMFBY; BRFSY terms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tx1"/>
                </a:solidFill>
              </a:rPr>
              <a:t>S18 Mongabay, Feb 2026: Bihar ethanol allocation cut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tx1"/>
                </a:solidFill>
              </a:rPr>
              <a:t>S19 World Bank and JEEViKA: Aaranyak maize company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tx1"/>
                </a:solidFill>
              </a:rPr>
              <a:t>S20 VEGFED and Tarkaari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tx1"/>
                </a:solidFill>
              </a:rPr>
              <a:t>S21 Sahyadri Farms FY24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chemeClr val="tx1"/>
                </a:solidFill>
              </a:rPr>
              <a:t>S22 MCA data on moribund producer companies (secondary)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406640" y="1371600"/>
            <a:ext cx="4325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GLOSSARY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406640" y="1645920"/>
            <a:ext cx="432511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chemeClr val="tx1"/>
                </a:solidFill>
              </a:rPr>
              <a:t>FPO</a:t>
            </a:r>
            <a:r>
              <a:rPr lang="en-US" sz="950" dirty="0">
                <a:solidFill>
                  <a:schemeClr val="tx1"/>
                </a:solidFill>
              </a:rPr>
              <a:t> Farmer Producer Organisation
</a:t>
            </a:r>
            <a:r>
              <a:rPr lang="en-US" sz="950" b="1" dirty="0">
                <a:solidFill>
                  <a:schemeClr val="tx1"/>
                </a:solidFill>
              </a:rPr>
              <a:t>KAP</a:t>
            </a:r>
            <a:r>
              <a:rPr lang="en-US" sz="950" dirty="0">
                <a:solidFill>
                  <a:schemeClr val="tx1"/>
                </a:solidFill>
              </a:rPr>
              <a:t> Kosi Agri Partners
</a:t>
            </a:r>
            <a:r>
              <a:rPr lang="en-US" sz="950" b="1" dirty="0">
                <a:solidFill>
                  <a:schemeClr val="tx1"/>
                </a:solidFill>
              </a:rPr>
              <a:t>CBBO</a:t>
            </a:r>
            <a:r>
              <a:rPr lang="en-US" sz="950" dirty="0">
                <a:solidFill>
                  <a:schemeClr val="tx1"/>
                </a:solidFill>
              </a:rPr>
              <a:t> Cluster-Based Business Organisation
</a:t>
            </a:r>
            <a:r>
              <a:rPr lang="en-US" sz="950" b="1" dirty="0">
                <a:solidFill>
                  <a:schemeClr val="tx1"/>
                </a:solidFill>
              </a:rPr>
              <a:t>PACS</a:t>
            </a:r>
            <a:r>
              <a:rPr lang="en-US" sz="950" dirty="0">
                <a:solidFill>
                  <a:schemeClr val="tx1"/>
                </a:solidFill>
              </a:rPr>
              <a:t> Primary Agricultural Credit Society
</a:t>
            </a:r>
            <a:r>
              <a:rPr lang="en-US" sz="950" b="1" dirty="0">
                <a:solidFill>
                  <a:schemeClr val="tx1"/>
                </a:solidFill>
              </a:rPr>
              <a:t>AIF</a:t>
            </a:r>
            <a:r>
              <a:rPr lang="en-US" sz="950" dirty="0">
                <a:solidFill>
                  <a:schemeClr val="tx1"/>
                </a:solidFill>
              </a:rPr>
              <a:t> Agriculture Infrastructure Fund
</a:t>
            </a:r>
            <a:r>
              <a:rPr lang="en-US" sz="950" b="1" dirty="0">
                <a:solidFill>
                  <a:schemeClr val="tx1"/>
                </a:solidFill>
              </a:rPr>
              <a:t>MIDH</a:t>
            </a:r>
            <a:r>
              <a:rPr lang="en-US" sz="950" dirty="0">
                <a:solidFill>
                  <a:schemeClr val="tx1"/>
                </a:solidFill>
              </a:rPr>
              <a:t> Mission for Integrated Development of Horticulture
</a:t>
            </a:r>
            <a:r>
              <a:rPr lang="en-US" sz="950" b="1" dirty="0">
                <a:solidFill>
                  <a:schemeClr val="tx1"/>
                </a:solidFill>
              </a:rPr>
              <a:t>e-NWR</a:t>
            </a:r>
            <a:r>
              <a:rPr lang="en-US" sz="950" dirty="0">
                <a:solidFill>
                  <a:schemeClr val="tx1"/>
                </a:solidFill>
              </a:rPr>
              <a:t> electronic Negotiable Warehouse Receipt
</a:t>
            </a:r>
            <a:r>
              <a:rPr lang="en-US" sz="950" b="1" dirty="0">
                <a:solidFill>
                  <a:schemeClr val="tx1"/>
                </a:solidFill>
              </a:rPr>
              <a:t>CGS-NPF</a:t>
            </a:r>
            <a:r>
              <a:rPr lang="en-US" sz="950" dirty="0">
                <a:solidFill>
                  <a:schemeClr val="tx1"/>
                </a:solidFill>
              </a:rPr>
              <a:t> credit guarantee for e-NWR pledge finance
</a:t>
            </a:r>
            <a:r>
              <a:rPr lang="en-US" sz="950" b="1" dirty="0">
                <a:solidFill>
                  <a:schemeClr val="tx1"/>
                </a:solidFill>
              </a:rPr>
              <a:t>NBFC</a:t>
            </a:r>
            <a:r>
              <a:rPr lang="en-US" sz="950" dirty="0">
                <a:solidFill>
                  <a:schemeClr val="tx1"/>
                </a:solidFill>
              </a:rPr>
              <a:t> non-bank finance company
</a:t>
            </a:r>
            <a:r>
              <a:rPr lang="en-US" sz="950" b="1" dirty="0">
                <a:solidFill>
                  <a:schemeClr val="tx1"/>
                </a:solidFill>
              </a:rPr>
              <a:t>SHG</a:t>
            </a:r>
            <a:r>
              <a:rPr lang="en-US" sz="950" dirty="0">
                <a:solidFill>
                  <a:schemeClr val="tx1"/>
                </a:solidFill>
              </a:rPr>
              <a:t> self-help group
</a:t>
            </a:r>
            <a:r>
              <a:rPr lang="en-US" sz="950" b="1" dirty="0">
                <a:solidFill>
                  <a:schemeClr val="tx1"/>
                </a:solidFill>
              </a:rPr>
              <a:t>JEEViKA</a:t>
            </a:r>
            <a:r>
              <a:rPr lang="en-US" sz="950" dirty="0">
                <a:solidFill>
                  <a:schemeClr val="tx1"/>
                </a:solidFill>
              </a:rPr>
              <a:t> Bihar Rural Livelihoods Project
</a:t>
            </a:r>
            <a:r>
              <a:rPr lang="en-US" sz="950" b="1" dirty="0">
                <a:solidFill>
                  <a:schemeClr val="tx1"/>
                </a:solidFill>
              </a:rPr>
              <a:t>VEGFED</a:t>
            </a:r>
            <a:r>
              <a:rPr lang="en-US" sz="950" dirty="0">
                <a:solidFill>
                  <a:schemeClr val="tx1"/>
                </a:solidFill>
              </a:rPr>
              <a:t> Bihar State Vegetable Processing and Marketing Cooperative Federation
</a:t>
            </a:r>
            <a:r>
              <a:rPr lang="en-US" sz="950" b="1" dirty="0">
                <a:solidFill>
                  <a:schemeClr val="tx1"/>
                </a:solidFill>
              </a:rPr>
              <a:t>BRFSY</a:t>
            </a:r>
            <a:r>
              <a:rPr lang="en-US" sz="950" dirty="0">
                <a:solidFill>
                  <a:schemeClr val="tx1"/>
                </a:solidFill>
              </a:rPr>
              <a:t> Bihar Rajya Fasal Sahayata Yojana (state crop aid)
</a:t>
            </a:r>
            <a:r>
              <a:rPr lang="en-US" sz="950" b="1" dirty="0">
                <a:solidFill>
                  <a:schemeClr val="tx1"/>
                </a:solidFill>
              </a:rPr>
              <a:t>PMFBY</a:t>
            </a:r>
            <a:r>
              <a:rPr lang="en-US" sz="950" dirty="0">
                <a:solidFill>
                  <a:schemeClr val="tx1"/>
                </a:solidFill>
              </a:rPr>
              <a:t> Pradhan Mantri Fasal Bima Yojana (central crop insurance)
</a:t>
            </a:r>
            <a:r>
              <a:rPr lang="en-US" sz="950" b="1" dirty="0">
                <a:solidFill>
                  <a:schemeClr val="tx1"/>
                </a:solidFill>
              </a:rPr>
              <a:t>MSP</a:t>
            </a:r>
            <a:r>
              <a:rPr lang="en-US" sz="950" dirty="0">
                <a:solidFill>
                  <a:schemeClr val="tx1"/>
                </a:solidFill>
              </a:rPr>
              <a:t> minimum support price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osi Fields">
  <a:themeElements>
    <a:clrScheme name="Kosi Fields">
      <a:dk1>
        <a:srgbClr val="1A1A1A"/>
      </a:dk1>
      <a:lt1>
        <a:srgbClr val="FFFFFF"/>
      </a:lt1>
      <a:dk2>
        <a:srgbClr val="1F3D2B"/>
      </a:dk2>
      <a:lt2>
        <a:srgbClr val="EEF3EC"/>
      </a:lt2>
      <a:accent1>
        <a:srgbClr val="1F3D2B"/>
      </a:accent1>
      <a:accent2>
        <a:srgbClr val="C8901A"/>
      </a:accent2>
      <a:accent3>
        <a:srgbClr val="4E8F3A"/>
      </a:accent3>
      <a:accent4>
        <a:srgbClr val="B5443B"/>
      </a:accent4>
      <a:accent5>
        <a:srgbClr val="6B7280"/>
      </a:accent5>
      <a:accent6>
        <a:srgbClr val="F7EDD2"/>
      </a:accent6>
      <a:hlink>
        <a:srgbClr val="1F6FB2"/>
      </a:hlink>
      <a:folHlink>
        <a:srgbClr val="6B4C9A"/>
      </a:folHlink>
    </a:clrScheme>
    <a:fontScheme name="Kosi Field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Tangent 2026: Kosi Agri Partners</dc:title>
  <dc:subject>PptxGenJS Presentation</dc:subject>
  <dc:creator>[Team name]</dc:creator>
  <cp:lastModifiedBy>[Team name]</cp:lastModifiedBy>
  <cp:revision>1</cp:revision>
  <dcterms:created xsi:type="dcterms:W3CDTF">2026-10-27T15:12:03Z</dcterms:created>
  <dcterms:modified xsi:type="dcterms:W3CDTF">2026-10-27T15:12:03Z</dcterms:modified>
</cp:coreProperties>
</file>